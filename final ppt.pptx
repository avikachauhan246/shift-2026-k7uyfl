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2" r:id="rId3"/>
  </p:sldMasterIdLst>
  <p:notesMasterIdLst>
    <p:notesMasterId r:id="rId14"/>
  </p:notesMasterIdLst>
  <p:sldIdLst>
    <p:sldId id="256" r:id="rId4"/>
    <p:sldId id="259" r:id="rId5"/>
    <p:sldId id="262" r:id="rId6"/>
    <p:sldId id="258" r:id="rId7"/>
    <p:sldId id="264" r:id="rId8"/>
    <p:sldId id="260" r:id="rId9"/>
    <p:sldId id="270" r:id="rId10"/>
    <p:sldId id="263" r:id="rId11"/>
    <p:sldId id="271"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EE1AE-03F1-45C7-B14D-ED13CA89D84A}" v="1" dt="2026-10-11T10:03:21.0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UPAM KUMAR" userId="b7ed5a9859668cf3" providerId="LiveId" clId="{42D9FD59-BE78-4FE1-8F18-364353ECA710}"/>
    <pc:docChg chg="addSld modSld">
      <pc:chgData name="NIRUPAM KUMAR" userId="b7ed5a9859668cf3" providerId="LiveId" clId="{42D9FD59-BE78-4FE1-8F18-364353ECA710}" dt="2026-10-11T10:03:21.018" v="0"/>
      <pc:docMkLst>
        <pc:docMk/>
      </pc:docMkLst>
      <pc:sldChg chg="add">
        <pc:chgData name="NIRUPAM KUMAR" userId="b7ed5a9859668cf3" providerId="LiveId" clId="{42D9FD59-BE78-4FE1-8F18-364353ECA710}" dt="2026-10-11T10:03:21.018" v="0"/>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6B4C12-055D-4F3E-AAED-326BAEFFA011}" type="datetimeFigureOut">
              <a:rPr lang="en-IN" smtClean="0"/>
              <a:t>11-10-2026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60BD3-CF88-446D-8F05-080EAEC8D845}" type="slidenum">
              <a:rPr lang="en-IN" smtClean="0"/>
              <a:t>‹#›</a:t>
            </a:fld>
            <a:endParaRPr lang="en-IN"/>
          </a:p>
        </p:txBody>
      </p:sp>
    </p:spTree>
    <p:extLst>
      <p:ext uri="{BB962C8B-B14F-4D97-AF65-F5344CB8AC3E}">
        <p14:creationId xmlns:p14="http://schemas.microsoft.com/office/powerpoint/2010/main" val="1964014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uncomfortable context. In India, shared e-micromobility hasn't worked for commuters. Yulu started in 2017 as bike-sharing for city commuters; when COVID emptied offices, it moved its fleet to delivery riders, and today about 95% of its revenue comes from renting e-bikes to gig workers on weekly plans. Bounce ran about 25,000 scooters and up to 120,000 rides a day before COVID; its dockless sharing collapsed and it now makes and leases EVs. The reasons: India already has over 260 million two-wheelers, there are no protected lanes, bikes were dumped and vandalised, mixed traffic is fast and scary, and COVID wiped out the commute. The delivery niche survived because it gives a rider a reason to ride all day.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data. Population comes from WorldPop's 2020 100-metre grid. Streets and paths come from OpenStreetMap through OSMnx, including the road class, lane and speed tags our safety filter uses. Station locations come from a BMRCL station file, with 20 newer stations added from OpenStreetMap, 83 in all. Ridership is BMRCL's hourly station data for August 2025, published through OpenCity, which we turn into average daily boardings. The grid is Uber's H3 at resolution 9. The WRI India and Toyota Mobility Foundation survey of 7,200 commuters is our motivation. We also collected Bengaluru Traffic Police crash data for a future road-risk layer, but haven't used it yet.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pilot is the eastern end of the Purple Line: ten stations from Garudacharpalya to Whitefield, Kadugodi. It's Bengaluru's IT corridor, with large neighbourhoods growing well beyond walking distance of the line, and a railway running through it. We cover it with 572 hexagons, about a tenth of a square kilometre each, holding about 454,000 people. We also include KR Puram and Singayyanapalya just to the west as edge stations, so people living near them aren't wrongly assigned to Garudacharpalya. Later we run the same pipeline on all 83 stations.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pilot map. Blue is walking reach, green is what an e-bike adds, orange is extra e-auto reach, grey is nobody. At 15 minutes, walking covers about 66,000 people; doorstep e-bikes add about 69,000 more, so the catchment roughly doubles to about 136,000, or 30% of the corridor. At 20 minutes it's about 247,000. Important: doorstep means a bike is waiting where you start. That's an upper bound, and in the implementation results we show how much a realistic number of hubs actually gets you.</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 SLIDE 5 (STATION PRIORITIZATION &amp; THE HOPEFARM PARADOX):</a:t>
            </a:r>
          </a:p>
          <a:p>
            <a:r>
              <a:t>"Judges, one of the most critical contributions of our research is what we call 'The Hopefarm Paradox'.</a:t>
            </a:r>
          </a:p>
          <a:p>
            <a:r>
              <a:t>Look at the slope chart in Figure 6. On the left is Pure Transit Need (unserved population living &gt;15m walk). On the right is Official BMRCL Daily Ridership from RTI disclosures.</a:t>
            </a:r>
          </a:p>
          <a:p>
            <a:r>
              <a:t>Notice Hopefarm Channasandra: it ranks #2 in transit need with 44,570 unserved residents. Yet it ranks #8 in daily ridership with only 6,218 boardings.</a:t>
            </a:r>
          </a:p>
          <a:p>
            <a:r>
              <a:t>Why? Because the Hopefarm road junction is notorious for gridlock, deterring commuters from even attempting to reach the station.</a:t>
            </a:r>
          </a:p>
          <a:p>
            <a:r>
              <a:t>If a transit authority allocates feeder bikes purely based on ridership, Hopefarm receives almost nothing. This penalizes the very communities that need first-mile transit most.</a:t>
            </a:r>
          </a:p>
          <a:p>
            <a:r>
              <a:t>To solve this, UrbanFluX formulated a composite priority metric: Unserved Need multiplied by the square root of Daily Boardings.</a:t>
            </a:r>
          </a:p>
          <a:p>
            <a:r>
              <a:t>The square root dampens ridership bias while preventing transit equity failures. Hopefarm rightly ascends to Rank #3 for immediate capital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optimiser. A hub only counts for a cell if you can walk to it in five minutes and still reach the station within the 15-minute budget, including unlock time. The greedy algorithm picks hubs one at a time by how many new people each one adds, never counting anyone twice. Five hubs reach about 10,600 people, fifteen about 24,500. Even building all 881 candidate sites tops out around 63,000. Compare that with the 69,000 doorstep figure: most of the people we're missing, about 324,000, don't have any candidate hub within a five-minute walk. That's a real design answer: for most of the gap you need dockless parking zones, not just a few docks.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 SLIDE 8 (CITY-WIDE 83-STATION SCALING):</a:t>
            </a:r>
          </a:p>
          <a:p>
            <a:r>
              <a:t>"Judges, our pilot was not an isolated exercise. To demonstrate enterprise readiness, we ran our exact graph-theoretic pipeline across all 83 operational BMRCL stations covering the Purple and Green Lines.</a:t>
            </a:r>
          </a:p>
          <a:p>
            <a:r>
              <a:t>Look at the city-wide cartography in Figure 1.</a:t>
            </a:r>
          </a:p>
          <a:p>
            <a:r>
              <a:t>Across Bengaluru, 4.29 million people live within 3 km of a metro station. BMRCL serves over 704,000 daily riders.</a:t>
            </a:r>
          </a:p>
          <a:p>
            <a:r>
              <a:t>Yet pedestrian walking baseline is just 22.3% (957,972 residents).</a:t>
            </a:r>
          </a:p>
          <a:p>
            <a:r>
              <a:t>That means 3.33 million residents—77.7% of the catchment—are stranded beyond a 15-minute walk.</a:t>
            </a:r>
          </a:p>
          <a:p>
            <a:r>
              <a:t>Deploying our road-filtered e-micromobility framework brings +898,233 additional residents into the 15-minute catchment—a massive +21.0% citywide uplift.</a:t>
            </a:r>
          </a:p>
          <a:p>
            <a:r>
              <a:t>At T = 20 minutes, active reach expands to 2.95 million residents (68.7%).</a:t>
            </a:r>
          </a:p>
          <a:p>
            <a:r>
              <a:t>Furthermore, our citywide priority ranking surfaces Benniganahalli and Krishnarajapura as Bengaluru's #1 and #2 highest-return feeder hubs, capturing massive unserved Outer Ring Road commuter flows."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 SLIDE 10 (ROADMAP &amp; CONCLUSION):</a:t>
            </a:r>
          </a:p>
          <a:p>
            <a:r>
              <a:t>"Judges, to conclude, we translate our mathematical optimization into an actionable, 3-phase capital allocation roadmap for Bengaluru.</a:t>
            </a:r>
          </a:p>
          <a:p>
            <a:r>
              <a:t>Phase 1 (Months 1 to 3) requires just ₹1.2 Crores. We focus on low-cost civil tactical fixes: installing bicycle wheeling ramps on 12 railway and arterial footbridges, and creating painted geofenced parking bays at Top 10 priority stations. This immediately reconnects 42 severed cells.</a:t>
            </a:r>
          </a:p>
          <a:p>
            <a:r>
              <a:t>Phase 2 (Months 4 to 9) deploys 150 solar-powered charging docks placed precisely at our submodular algorithm coordinates, supporting 3,000 shared e-bikes via PPP concessions. This unlocks our +898,000 resident uplift.</a:t>
            </a:r>
          </a:p>
          <a:p>
            <a:r>
              <a:t>Phase 3 (Months 10 to 18) unifies ticketing: commuters get a single QR code or mobility card for their metro ride and their 15-minute e-bike feeder trip, paired with pop-up protected bike tracks along high-volume feeder radials.</a:t>
            </a:r>
          </a:p>
          <a:p>
            <a:r>
              <a:t>UrbanFluX provides a mathematically grounded, computationally scalable, and actionable roadmap to solve the last-mile chasm.</a:t>
            </a:r>
          </a:p>
          <a:p>
            <a:r>
              <a:t>Thank you, and we look forward to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BE31F-06F2-71D6-3CEB-0C7F869EC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0E5D76-CBE3-D8F4-A960-22BB8418F3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AC4FD5-5584-15A0-90D1-9CDBB9B27266}"/>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5" name="Footer Placeholder 4">
            <a:extLst>
              <a:ext uri="{FF2B5EF4-FFF2-40B4-BE49-F238E27FC236}">
                <a16:creationId xmlns:a16="http://schemas.microsoft.com/office/drawing/2014/main" id="{F581D2FD-3CCD-C250-6C10-A26C2C39FE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C108B-0DE5-40AF-E395-AF1DCAF87A36}"/>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3544718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98BB1-1A6D-DFFB-34A1-26A14BAAA4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1059FC-3435-5A4F-D01D-67693EBE9E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5A8145-5D4A-8D79-D18E-D33A7C1C6165}"/>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5" name="Footer Placeholder 4">
            <a:extLst>
              <a:ext uri="{FF2B5EF4-FFF2-40B4-BE49-F238E27FC236}">
                <a16:creationId xmlns:a16="http://schemas.microsoft.com/office/drawing/2014/main" id="{9438DED4-E249-7AE8-05EF-ADBBFFDEA7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6011D9-F26C-A247-C80C-6081E12A229E}"/>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1240158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C6656-B535-B722-296D-3A700FB3BB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A6A5B08-41E5-58A0-01B7-299EFEFC6D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BF1068-8FD7-C654-7BA7-9368DB144EF1}"/>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5" name="Footer Placeholder 4">
            <a:extLst>
              <a:ext uri="{FF2B5EF4-FFF2-40B4-BE49-F238E27FC236}">
                <a16:creationId xmlns:a16="http://schemas.microsoft.com/office/drawing/2014/main" id="{0918EEF4-4DEB-38FE-07FE-6785B49F98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2DEFFC-A71D-AC7E-EE90-091EDB8CD93C}"/>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3128166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D3A43-19A3-7854-6D65-23D8CB49EE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AED4BB-2D99-BFE3-7840-46BB2E35C7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116777-1D06-793F-D157-B1C81FE54B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063D0B-7CE8-69A2-A786-A7452613335B}"/>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6" name="Footer Placeholder 5">
            <a:extLst>
              <a:ext uri="{FF2B5EF4-FFF2-40B4-BE49-F238E27FC236}">
                <a16:creationId xmlns:a16="http://schemas.microsoft.com/office/drawing/2014/main" id="{FD9E9EB7-0BAA-6FFD-D69A-EABA90CAC2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0763AA-3F8C-D1AA-F6C1-BB9DA5DB3C3C}"/>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3573247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E9FE1-A185-DCA3-B901-B05B8F9CBE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E82D83-F42B-D2BF-E944-2038365330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807EDA-1DA8-D803-D4DF-4C638600AB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C6D61D-21F1-17EF-AD4F-CCC5767E41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C0F62C-9E1A-308B-E3DA-13358275BB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4E9F56-FBC1-1D16-055E-C5C56EA6EB81}"/>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8" name="Footer Placeholder 7">
            <a:extLst>
              <a:ext uri="{FF2B5EF4-FFF2-40B4-BE49-F238E27FC236}">
                <a16:creationId xmlns:a16="http://schemas.microsoft.com/office/drawing/2014/main" id="{B4439D7A-07D6-5673-1D1C-97A474D020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F9F9BA-0A99-C523-299D-F24323F2BBDD}"/>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111640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2CCC0-64B3-FE48-2C69-BE561F39BF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F951FA-97D7-2EE8-8493-5D799EB1360D}"/>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4" name="Footer Placeholder 3">
            <a:extLst>
              <a:ext uri="{FF2B5EF4-FFF2-40B4-BE49-F238E27FC236}">
                <a16:creationId xmlns:a16="http://schemas.microsoft.com/office/drawing/2014/main" id="{650D736D-168D-8AB8-3C99-2F05BEF8047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C1F03B-9C31-059E-E96D-4926D16FBF12}"/>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2601321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9C9F3F-2037-A084-A238-DA47B59D2B98}"/>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3" name="Footer Placeholder 2">
            <a:extLst>
              <a:ext uri="{FF2B5EF4-FFF2-40B4-BE49-F238E27FC236}">
                <a16:creationId xmlns:a16="http://schemas.microsoft.com/office/drawing/2014/main" id="{C0F98124-EAFF-6911-2FA9-1277E8D688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75A255D-F209-FC95-A9E5-788093D0AD26}"/>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3770139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3D79-F4D9-2667-DE9E-582646588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EB750B7-B77D-74B5-0EC4-0BB16FAA10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D0DECE8-8454-B5E7-4ECA-FF4B4014EB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B848A-88E4-2CDE-1C5A-66D01C6892FC}"/>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6" name="Footer Placeholder 5">
            <a:extLst>
              <a:ext uri="{FF2B5EF4-FFF2-40B4-BE49-F238E27FC236}">
                <a16:creationId xmlns:a16="http://schemas.microsoft.com/office/drawing/2014/main" id="{E33DCDA1-A1E2-8062-7E6C-E44B3C8982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CEF028-B96A-B62F-03EE-778D985571F0}"/>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2404201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D75C4-DC71-7E5E-C56D-0D6179EDF2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610881-CA4A-AE1A-FD6A-6A00DAF3C7A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7AC9CD-EC47-9A79-7EA3-AF1DB3D800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B525BD-A274-50E5-89CA-8293BA8468E2}"/>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6" name="Footer Placeholder 5">
            <a:extLst>
              <a:ext uri="{FF2B5EF4-FFF2-40B4-BE49-F238E27FC236}">
                <a16:creationId xmlns:a16="http://schemas.microsoft.com/office/drawing/2014/main" id="{FD3596E6-C101-272F-4E61-B6A6C98C0B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AE284A-D66B-6506-84D4-060E2E0CB87B}"/>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3932496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E08A4-D923-65F5-2F68-9706341A6A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D2F4F8-1B0A-929C-3F2B-7369AB6D3D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32F501-8AB7-0D47-EB91-67A3D297D205}"/>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5" name="Footer Placeholder 4">
            <a:extLst>
              <a:ext uri="{FF2B5EF4-FFF2-40B4-BE49-F238E27FC236}">
                <a16:creationId xmlns:a16="http://schemas.microsoft.com/office/drawing/2014/main" id="{CB4A4893-6589-5610-6F53-DD856702C3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28403-F7A7-FBD2-509B-6F929BB48D74}"/>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3200116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6BACBD-B468-27AF-F326-A638E261945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6B1B09-6F67-D5EB-AF67-C368AC7BE0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8AEB05-D4BA-89F2-9C48-7A877FD19155}"/>
              </a:ext>
            </a:extLst>
          </p:cNvPr>
          <p:cNvSpPr>
            <a:spLocks noGrp="1"/>
          </p:cNvSpPr>
          <p:nvPr>
            <p:ph type="dt" sz="half" idx="10"/>
          </p:nvPr>
        </p:nvSpPr>
        <p:spPr/>
        <p:txBody>
          <a:bodyPr/>
          <a:lstStyle/>
          <a:p>
            <a:fld id="{DAD56F8A-348E-42C3-A54E-B80A4F5AFFA6}" type="datetimeFigureOut">
              <a:rPr lang="en-IN" smtClean="0"/>
              <a:t>11-10-2026</a:t>
            </a:fld>
            <a:endParaRPr lang="en-IN"/>
          </a:p>
        </p:txBody>
      </p:sp>
      <p:sp>
        <p:nvSpPr>
          <p:cNvPr id="5" name="Footer Placeholder 4">
            <a:extLst>
              <a:ext uri="{FF2B5EF4-FFF2-40B4-BE49-F238E27FC236}">
                <a16:creationId xmlns:a16="http://schemas.microsoft.com/office/drawing/2014/main" id="{C1D551B3-CE06-A84F-0B3D-9048865ACA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D0F62D-5198-516C-45ED-8C1EB608A626}"/>
              </a:ext>
            </a:extLst>
          </p:cNvPr>
          <p:cNvSpPr>
            <a:spLocks noGrp="1"/>
          </p:cNvSpPr>
          <p:nvPr>
            <p:ph type="sldNum" sz="quarter" idx="12"/>
          </p:nvPr>
        </p:nvSpPr>
        <p:spPr/>
        <p:txBody>
          <a:bodyPr/>
          <a:lstStyle/>
          <a:p>
            <a:fld id="{174057E6-E81D-4012-B872-1E213B4EFCC3}" type="slidenum">
              <a:rPr lang="en-IN" smtClean="0"/>
              <a:t>‹#›</a:t>
            </a:fld>
            <a:endParaRPr lang="en-IN"/>
          </a:p>
        </p:txBody>
      </p:sp>
    </p:spTree>
    <p:extLst>
      <p:ext uri="{BB962C8B-B14F-4D97-AF65-F5344CB8AC3E}">
        <p14:creationId xmlns:p14="http://schemas.microsoft.com/office/powerpoint/2010/main" val="2324157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2213A"/>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12213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664045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1507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A7298-394E-C9C3-21C0-D13779F37F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942DCB-1E0B-E3E9-0C3E-220E8093F1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17F2D0-5A6B-48A4-6E13-AF5A99B6AA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56F8A-348E-42C3-A54E-B80A4F5AFFA6}" type="datetimeFigureOut">
              <a:rPr lang="en-IN" smtClean="0"/>
              <a:t>11-10-2026</a:t>
            </a:fld>
            <a:endParaRPr lang="en-IN"/>
          </a:p>
        </p:txBody>
      </p:sp>
      <p:sp>
        <p:nvSpPr>
          <p:cNvPr id="5" name="Footer Placeholder 4">
            <a:extLst>
              <a:ext uri="{FF2B5EF4-FFF2-40B4-BE49-F238E27FC236}">
                <a16:creationId xmlns:a16="http://schemas.microsoft.com/office/drawing/2014/main" id="{EA03ACE5-2D55-E2A4-7401-BD66C3C8DA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E1DF2FE-12E6-6384-8B92-37002F635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4057E6-E81D-4012-B872-1E213B4EFCC3}" type="slidenum">
              <a:rPr lang="en-IN" smtClean="0"/>
              <a:t>‹#›</a:t>
            </a:fld>
            <a:endParaRPr lang="en-IN"/>
          </a:p>
        </p:txBody>
      </p:sp>
    </p:spTree>
    <p:extLst>
      <p:ext uri="{BB962C8B-B14F-4D97-AF65-F5344CB8AC3E}">
        <p14:creationId xmlns:p14="http://schemas.microsoft.com/office/powerpoint/2010/main" val="426363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2213A"/>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12213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442763818"/>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93803896"/>
      </p:ext>
    </p:extLst>
  </p:cSld>
  <p:clrMap bg1="lt1" tx1="dk1" bg2="lt2" tx2="dk2" accent1="accent1" accent2="accent2" accent3="accent3" accent4="accent4" accent5="accent5" accent6="accent6" hlink="hlink" folHlink="folHlink"/>
  <p:sldLayoutIdLst>
    <p:sldLayoutId id="2147483663"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8BEFD-B63F-4255-5F5C-2A130ECE9D6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405EE8D-D9B6-1AAD-1C5F-2E35A5124B5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46144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A8520A"/>
                </a:solidFill>
                <a:effectLst/>
                <a:uLnTx/>
                <a:uFillTx/>
                <a:latin typeface="Arial" pitchFamily="34" charset="0"/>
                <a:ea typeface="Arial" pitchFamily="34" charset="-122"/>
                <a:cs typeface="Arial" pitchFamily="34" charset="-120"/>
              </a:rPr>
              <a:t>INDIA: STUCK IN THE DELIVERY NICHE</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3" name="Text 1"/>
          <p:cNvSpPr>
            <a:spLocks noGrp="1"/>
          </p:cNvSpPr>
          <p:nvPr>
            <p:ph type="title"/>
          </p:nvPr>
        </p:nvSpPr>
        <p:spPr>
          <a:xfrm>
            <a:off x="812800" y="1127761"/>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13A"/>
                </a:solidFill>
                <a:latin typeface="Georgia" pitchFamily="18" charset="0"/>
                <a:ea typeface="Georgia" pitchFamily="18" charset="-122"/>
                <a:cs typeface="Georgia" pitchFamily="18" charset="-120"/>
              </a:rPr>
              <a:t>Why e-micromobility stalled for Indian commuters</a:t>
            </a:r>
            <a:endParaRPr lang="en-US" sz="3200" dirty="0"/>
          </a:p>
        </p:txBody>
      </p:sp>
      <p:sp>
        <p:nvSpPr>
          <p:cNvPr id="4" name="Shape 2"/>
          <p:cNvSpPr/>
          <p:nvPr/>
        </p:nvSpPr>
        <p:spPr>
          <a:xfrm>
            <a:off x="812800" y="2275841"/>
            <a:ext cx="3379867" cy="2222500"/>
          </a:xfrm>
          <a:prstGeom prst="roundRect">
            <a:avLst>
              <a:gd name="adj" fmla="val 4571"/>
            </a:avLst>
          </a:prstGeom>
          <a:solidFill>
            <a:srgbClr val="12213A"/>
          </a:solidFill>
          <a:ln/>
        </p:spPr>
      </p:sp>
      <p:sp>
        <p:nvSpPr>
          <p:cNvPr id="5" name="Text 3"/>
          <p:cNvSpPr/>
          <p:nvPr/>
        </p:nvSpPr>
        <p:spPr>
          <a:xfrm>
            <a:off x="1041400" y="2504441"/>
            <a:ext cx="3010347" cy="9144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7000"/>
              </a:lnSpc>
              <a:spcBef>
                <a:spcPts val="0"/>
              </a:spcBef>
              <a:spcAft>
                <a:spcPts val="0"/>
              </a:spcAft>
              <a:buClrTx/>
              <a:buSzTx/>
              <a:buFontTx/>
              <a:buNone/>
              <a:tabLst/>
              <a:defRPr/>
            </a:pPr>
            <a:r>
              <a:rPr kumimoji="0" lang="en-US" sz="7000" b="1" i="0" u="none" strike="noStrike" kern="1200" cap="none" spc="0" normalizeH="0" baseline="0" noProof="0" dirty="0">
                <a:ln>
                  <a:noFill/>
                </a:ln>
                <a:solidFill>
                  <a:srgbClr val="F2A65A"/>
                </a:solidFill>
                <a:effectLst/>
                <a:uLnTx/>
                <a:uFillTx/>
                <a:latin typeface="Georgia" pitchFamily="18" charset="0"/>
                <a:ea typeface="Georgia" pitchFamily="18" charset="-122"/>
                <a:cs typeface="Georgia" pitchFamily="18" charset="-120"/>
              </a:rPr>
              <a:t>~95%</a:t>
            </a:r>
            <a:endParaRPr kumimoji="0" lang="en-US" sz="7000" b="0" i="0" u="none" strike="noStrike" kern="1200" cap="none" spc="0" normalizeH="0" baseline="0" noProof="0" dirty="0">
              <a:ln>
                <a:noFill/>
              </a:ln>
              <a:solidFill>
                <a:srgbClr val="12213A"/>
              </a:solidFill>
              <a:effectLst/>
              <a:uLnTx/>
              <a:uFillTx/>
              <a:latin typeface="Arial"/>
              <a:ea typeface="+mn-ea"/>
              <a:cs typeface="+mn-cs"/>
            </a:endParaRPr>
          </a:p>
        </p:txBody>
      </p:sp>
      <p:sp>
        <p:nvSpPr>
          <p:cNvPr id="6" name="Text 4"/>
          <p:cNvSpPr/>
          <p:nvPr/>
        </p:nvSpPr>
        <p:spPr>
          <a:xfrm>
            <a:off x="1041400" y="3469641"/>
            <a:ext cx="3010347" cy="8255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5F3EC"/>
                </a:solidFill>
                <a:effectLst/>
                <a:uLnTx/>
                <a:uFillTx/>
                <a:latin typeface="Arial" pitchFamily="34" charset="0"/>
                <a:ea typeface="Arial" pitchFamily="34" charset="-122"/>
                <a:cs typeface="Arial" pitchFamily="34" charset="-120"/>
              </a:rPr>
              <a:t>of Yulu's revenue comes from renting e-bikes to gig workers on weekly plans</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p:txBody>
      </p:sp>
      <p:sp>
        <p:nvSpPr>
          <p:cNvPr id="7" name="Shape 5"/>
          <p:cNvSpPr/>
          <p:nvPr/>
        </p:nvSpPr>
        <p:spPr>
          <a:xfrm>
            <a:off x="4399042" y="2279016"/>
            <a:ext cx="3383756" cy="2216150"/>
          </a:xfrm>
          <a:prstGeom prst="roundRect">
            <a:avLst>
              <a:gd name="adj" fmla="val 4441"/>
            </a:avLst>
          </a:prstGeom>
          <a:solidFill>
            <a:srgbClr val="FCFBF7"/>
          </a:solidFill>
          <a:ln w="6350">
            <a:solidFill>
              <a:srgbClr val="D9D4C7"/>
            </a:solidFill>
            <a:prstDash val="solid"/>
          </a:ln>
        </p:spPr>
      </p:sp>
      <p:sp>
        <p:nvSpPr>
          <p:cNvPr id="8" name="Text 6"/>
          <p:cNvSpPr/>
          <p:nvPr/>
        </p:nvSpPr>
        <p:spPr>
          <a:xfrm>
            <a:off x="4629547" y="2509520"/>
            <a:ext cx="3010429"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Yulu</a:t>
            </a:r>
            <a:endParaRPr kumimoji="0" lang="en-US" sz="2000" b="0" i="0" u="none" strike="noStrike" kern="1200" cap="none" spc="0" normalizeH="0" baseline="0" noProof="0" dirty="0">
              <a:ln>
                <a:noFill/>
              </a:ln>
              <a:solidFill>
                <a:srgbClr val="12213A"/>
              </a:solidFill>
              <a:effectLst/>
              <a:uLnTx/>
              <a:uFillTx/>
              <a:latin typeface="Arial"/>
              <a:ea typeface="+mn-ea"/>
              <a:cs typeface="+mn-cs"/>
            </a:endParaRPr>
          </a:p>
        </p:txBody>
      </p:sp>
      <p:sp>
        <p:nvSpPr>
          <p:cNvPr id="9" name="Text 7"/>
          <p:cNvSpPr/>
          <p:nvPr/>
        </p:nvSpPr>
        <p:spPr>
          <a:xfrm>
            <a:off x="4629547" y="2890520"/>
            <a:ext cx="3010429" cy="1092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Began in 2017 as bike-sharing for city commuters. When COVID-19 emptied offices, its fleet moved to delivery riders.</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p:txBody>
      </p:sp>
      <p:sp>
        <p:nvSpPr>
          <p:cNvPr id="10" name="Shape 8"/>
          <p:cNvSpPr/>
          <p:nvPr/>
        </p:nvSpPr>
        <p:spPr>
          <a:xfrm>
            <a:off x="7992349" y="2279016"/>
            <a:ext cx="3383677" cy="2216150"/>
          </a:xfrm>
          <a:prstGeom prst="roundRect">
            <a:avLst>
              <a:gd name="adj" fmla="val 4441"/>
            </a:avLst>
          </a:prstGeom>
          <a:solidFill>
            <a:srgbClr val="FCFBF7"/>
          </a:solidFill>
          <a:ln w="6350">
            <a:solidFill>
              <a:srgbClr val="D9D4C7"/>
            </a:solidFill>
            <a:prstDash val="solid"/>
          </a:ln>
        </p:spPr>
      </p:sp>
      <p:sp>
        <p:nvSpPr>
          <p:cNvPr id="11" name="Text 9"/>
          <p:cNvSpPr/>
          <p:nvPr/>
        </p:nvSpPr>
        <p:spPr>
          <a:xfrm>
            <a:off x="8222853" y="2509520"/>
            <a:ext cx="3010347"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Bounce</a:t>
            </a:r>
            <a:endParaRPr kumimoji="0" lang="en-US" sz="2000" b="0" i="0" u="none" strike="noStrike" kern="1200" cap="none" spc="0" normalizeH="0" baseline="0" noProof="0" dirty="0">
              <a:ln>
                <a:noFill/>
              </a:ln>
              <a:solidFill>
                <a:srgbClr val="12213A"/>
              </a:solidFill>
              <a:effectLst/>
              <a:uLnTx/>
              <a:uFillTx/>
              <a:latin typeface="Arial"/>
              <a:ea typeface="+mn-ea"/>
              <a:cs typeface="+mn-cs"/>
            </a:endParaRPr>
          </a:p>
        </p:txBody>
      </p:sp>
      <p:sp>
        <p:nvSpPr>
          <p:cNvPr id="12" name="Text 10"/>
          <p:cNvSpPr/>
          <p:nvPr/>
        </p:nvSpPr>
        <p:spPr>
          <a:xfrm>
            <a:off x="8222853" y="2890520"/>
            <a:ext cx="3010347" cy="1092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~25,000 scooters and up to 120,000 daily rides before COVID-19. Dockless sharing collapsed; it now makes and leases EVs.</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p:txBody>
      </p:sp>
      <p:sp>
        <p:nvSpPr>
          <p:cNvPr id="13" name="Text 11"/>
          <p:cNvSpPr/>
          <p:nvPr/>
        </p:nvSpPr>
        <p:spPr>
          <a:xfrm>
            <a:off x="812800" y="4752341"/>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46505E"/>
                </a:solidFill>
                <a:effectLst/>
                <a:uLnTx/>
                <a:uFillTx/>
                <a:latin typeface="Arial" pitchFamily="34" charset="0"/>
                <a:ea typeface="Arial" pitchFamily="34" charset="-122"/>
                <a:cs typeface="Arial" pitchFamily="34" charset="-120"/>
              </a:rPr>
              <a:t>WHY COMMUTERS DIDN'T STICK</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4" name="Text 12"/>
          <p:cNvSpPr/>
          <p:nvPr/>
        </p:nvSpPr>
        <p:spPr>
          <a:xfrm>
            <a:off x="812800" y="5067300"/>
            <a:ext cx="3045381" cy="340360"/>
          </a:xfrm>
          <a:prstGeom prst="roundRect">
            <a:avLst>
              <a:gd name="adj" fmla="val 50000"/>
            </a:avLst>
          </a:prstGeom>
          <a:solidFill>
            <a:srgbClr val="F6DCC3"/>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260M+ two-wheelers already on the road</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5" name="Text 13"/>
          <p:cNvSpPr/>
          <p:nvPr/>
        </p:nvSpPr>
        <p:spPr>
          <a:xfrm>
            <a:off x="3934381" y="5067300"/>
            <a:ext cx="1948259" cy="340360"/>
          </a:xfrm>
          <a:prstGeom prst="roundRect">
            <a:avLst>
              <a:gd name="adj" fmla="val 50000"/>
            </a:avLst>
          </a:prstGeom>
          <a:solidFill>
            <a:srgbClr val="F6DCC3"/>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No protected cycle lanes</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6" name="Text 14"/>
          <p:cNvSpPr/>
          <p:nvPr/>
        </p:nvSpPr>
        <p:spPr>
          <a:xfrm>
            <a:off x="5958840" y="5067300"/>
            <a:ext cx="2346325" cy="340360"/>
          </a:xfrm>
          <a:prstGeom prst="roundRect">
            <a:avLst>
              <a:gd name="adj" fmla="val 50000"/>
            </a:avLst>
          </a:prstGeom>
          <a:solidFill>
            <a:srgbClr val="F6DCC3"/>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Parking misuse and vandalism</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7" name="Text 15"/>
          <p:cNvSpPr/>
          <p:nvPr/>
        </p:nvSpPr>
        <p:spPr>
          <a:xfrm>
            <a:off x="8381365" y="5067300"/>
            <a:ext cx="1834753" cy="340360"/>
          </a:xfrm>
          <a:prstGeom prst="roundRect">
            <a:avLst>
              <a:gd name="adj" fmla="val 50000"/>
            </a:avLst>
          </a:prstGeom>
          <a:solidFill>
            <a:srgbClr val="F6DCC3"/>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Fast, risky mixed traffic</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8" name="Text 16"/>
          <p:cNvSpPr/>
          <p:nvPr/>
        </p:nvSpPr>
        <p:spPr>
          <a:xfrm>
            <a:off x="812800" y="5483861"/>
            <a:ext cx="2490152" cy="340360"/>
          </a:xfrm>
          <a:prstGeom prst="roundRect">
            <a:avLst>
              <a:gd name="adj" fmla="val 50000"/>
            </a:avLst>
          </a:prstGeom>
          <a:solidFill>
            <a:srgbClr val="F6DCC3"/>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COVID-19 emptied the commute</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9" name="Text 17"/>
          <p:cNvSpPr/>
          <p:nvPr/>
        </p:nvSpPr>
        <p:spPr>
          <a:xfrm>
            <a:off x="812800" y="6238239"/>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F6875"/>
                </a:solidFill>
                <a:effectLst/>
                <a:uLnTx/>
                <a:uFillTx/>
                <a:latin typeface="Arial" pitchFamily="34" charset="0"/>
                <a:ea typeface="Arial" pitchFamily="34" charset="-122"/>
                <a:cs typeface="Arial" pitchFamily="34" charset="-120"/>
              </a:rPr>
              <a:t>Sources: TechCrunch (Aug 2026) · Micromobility Industries, "India shared micromobility: a missed turn" (Sep 2025) · Inc42 · 4</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A7C5A"/>
                </a:solidFill>
                <a:effectLst/>
                <a:uLnTx/>
                <a:uFillTx/>
                <a:latin typeface="Arial" pitchFamily="34" charset="0"/>
                <a:ea typeface="Arial" pitchFamily="34" charset="-122"/>
                <a:cs typeface="Arial" pitchFamily="34" charset="-120"/>
              </a:rPr>
              <a:t>DATA SOURCES</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13A"/>
                </a:solidFill>
                <a:latin typeface="Georgia" pitchFamily="18" charset="0"/>
                <a:ea typeface="Georgia" pitchFamily="18" charset="-122"/>
                <a:cs typeface="Georgia" pitchFamily="18" charset="-120"/>
              </a:rPr>
              <a:t>Everything we use is open</a:t>
            </a:r>
            <a:endParaRPr lang="en-US" sz="3200" dirty="0"/>
          </a:p>
        </p:txBody>
      </p:sp>
      <p:graphicFrame>
        <p:nvGraphicFramePr>
          <p:cNvPr id="4" name="Table 0"/>
          <p:cNvGraphicFramePr>
            <a:graphicFrameLocks noGrp="1"/>
          </p:cNvGraphicFramePr>
          <p:nvPr/>
        </p:nvGraphicFramePr>
        <p:xfrm>
          <a:off x="822960" y="1889760"/>
          <a:ext cx="10556240" cy="2960370"/>
        </p:xfrm>
        <a:graphic>
          <a:graphicData uri="http://schemas.openxmlformats.org/drawingml/2006/table">
            <a:tbl>
              <a:tblPr/>
              <a:tblGrid>
                <a:gridCol w="2322373">
                  <a:extLst>
                    <a:ext uri="{9D8B030D-6E8A-4147-A177-3AD203B41FA5}">
                      <a16:colId xmlns:a16="http://schemas.microsoft.com/office/drawing/2014/main" val="20000"/>
                    </a:ext>
                  </a:extLst>
                </a:gridCol>
                <a:gridCol w="4011371">
                  <a:extLst>
                    <a:ext uri="{9D8B030D-6E8A-4147-A177-3AD203B41FA5}">
                      <a16:colId xmlns:a16="http://schemas.microsoft.com/office/drawing/2014/main" val="20001"/>
                    </a:ext>
                  </a:extLst>
                </a:gridCol>
                <a:gridCol w="4222496">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12213A"/>
                          </a:solidFill>
                          <a:latin typeface="Arial" pitchFamily="34" charset="0"/>
                          <a:ea typeface="Arial" pitchFamily="34" charset="-122"/>
                          <a:cs typeface="Arial" pitchFamily="34" charset="-120"/>
                        </a:rPr>
                        <a:t>Data</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820"/>
                        </a:lnSpc>
                        <a:buNone/>
                      </a:pPr>
                      <a:r>
                        <a:rPr lang="en-US" sz="1300" b="1" dirty="0">
                          <a:solidFill>
                            <a:srgbClr val="12213A"/>
                          </a:solidFill>
                          <a:latin typeface="Arial" pitchFamily="34" charset="0"/>
                          <a:ea typeface="Arial" pitchFamily="34" charset="-122"/>
                          <a:cs typeface="Arial" pitchFamily="34" charset="-120"/>
                        </a:rPr>
                        <a:t>Source</a:t>
                      </a:r>
                      <a:endParaRPr lang="en-US" sz="1300" dirty="0">
                        <a:latin typeface="Arial" charset="0"/>
                        <a:ea typeface="Arial" charset="0"/>
                        <a:cs typeface="Arial"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820"/>
                        </a:lnSpc>
                        <a:buNone/>
                      </a:pPr>
                      <a:r>
                        <a:rPr lang="en-US" sz="1300" b="1" dirty="0">
                          <a:solidFill>
                            <a:srgbClr val="12213A"/>
                          </a:solidFill>
                          <a:latin typeface="Arial" pitchFamily="34" charset="0"/>
                          <a:ea typeface="Arial" pitchFamily="34" charset="-122"/>
                          <a:cs typeface="Arial" pitchFamily="34" charset="-120"/>
                        </a:rPr>
                        <a:t>Used for</a:t>
                      </a:r>
                      <a:endParaRPr lang="en-US" sz="1300" dirty="0">
                        <a:latin typeface="Arial" charset="0"/>
                        <a:ea typeface="Arial" charset="0"/>
                        <a:cs typeface="Arial" charset="0"/>
                      </a:endParaRPr>
                    </a:p>
                  </a:txBody>
                  <a:tcPr marL="57785" marR="57785" marT="57785" marB="57785">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Population</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WorldPop 2020, 100 m constrained (CC BY 4.0)</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People in each hexagon</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Streets and paths</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OpenStreetMap via OSMnx (ODbL)</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Walk, e-bike and drive networks; road class, lanes, speed</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Metro stations</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BMRCL station GeoPackage (63) + OSM (20)</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All 83 stations; 10 pilot and 2 edge stations</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588010">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Ridership</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BMRCL hourly station ridership, Aug 2025 (OpenCity)</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Average daily boardings for the weighted ranking</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Analysis grid</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Uber H3, resolution 9</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Hexagons of ~0.1 km²</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Commuter evidence</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WRI India / Toyota Mobility Foundation (2023)</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820"/>
                        </a:lnSpc>
                        <a:buNone/>
                      </a:pPr>
                      <a:r>
                        <a:rPr lang="en-US" sz="1300" dirty="0">
                          <a:solidFill>
                            <a:srgbClr val="12213A"/>
                          </a:solidFill>
                          <a:latin typeface="Arial" pitchFamily="34" charset="0"/>
                          <a:ea typeface="Arial" pitchFamily="34" charset="-122"/>
                          <a:cs typeface="Arial" pitchFamily="34" charset="-120"/>
                        </a:rPr>
                        <a:t>Motivation: 7,200 metro commuters in 3 cities</a:t>
                      </a:r>
                      <a:endParaRPr lang="en-US" sz="1300" dirty="0">
                        <a:latin typeface="Arial" charset="0"/>
                        <a:ea typeface="Arial" charset="0"/>
                        <a:cs typeface="Arial"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F6875"/>
                </a:solidFill>
                <a:effectLst/>
                <a:uLnTx/>
                <a:uFillTx/>
                <a:latin typeface="Arial" pitchFamily="34" charset="0"/>
                <a:ea typeface="Arial" pitchFamily="34" charset="-122"/>
                <a:cs typeface="Arial" pitchFamily="34" charset="-120"/>
              </a:rPr>
              <a:t>Collected for later: BTP road-crash counts 2023–24 and police jurisdictions, for a road-risk layer · 7</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D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312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75"/>
              </a:lnSpc>
              <a:spcBef>
                <a:spcPts val="0"/>
              </a:spcBef>
              <a:spcAft>
                <a:spcPts val="0"/>
              </a:spcAft>
              <a:buClrTx/>
              <a:buSzTx/>
              <a:buFontTx/>
              <a:buNone/>
              <a:tabLst/>
              <a:defRPr/>
            </a:pPr>
            <a:r>
              <a:rPr kumimoji="0" lang="en-US" sz="1196" b="1" i="0" u="none" strike="noStrike" kern="0" cap="none" spc="150" normalizeH="0" baseline="0" noProof="0" dirty="0">
                <a:ln>
                  <a:noFill/>
                </a:ln>
                <a:solidFill>
                  <a:srgbClr val="0A7C5A"/>
                </a:solidFill>
                <a:effectLst/>
                <a:uLnTx/>
                <a:uFillTx/>
                <a:latin typeface="Arial" pitchFamily="34" charset="0"/>
                <a:ea typeface="Arial" pitchFamily="34" charset="-122"/>
                <a:cs typeface="Arial" pitchFamily="34" charset="-120"/>
              </a:rPr>
              <a:t>STUDY AREA</a:t>
            </a:r>
            <a:endParaRPr kumimoji="0" lang="en-US" sz="1196" b="0" i="0" u="none" strike="noStrike" kern="1200" cap="none" spc="0" normalizeH="0" baseline="0" noProof="0" dirty="0">
              <a:ln>
                <a:noFill/>
              </a:ln>
              <a:solidFill>
                <a:srgbClr val="12213A"/>
              </a:solidFill>
              <a:effectLst/>
              <a:uLnTx/>
              <a:uFillTx/>
              <a:latin typeface="Arial"/>
              <a:ea typeface="+mn-ea"/>
              <a:cs typeface="+mn-cs"/>
            </a:endParaRPr>
          </a:p>
        </p:txBody>
      </p:sp>
      <p:sp>
        <p:nvSpPr>
          <p:cNvPr id="3" name="Text 1"/>
          <p:cNvSpPr>
            <a:spLocks noGrp="1"/>
          </p:cNvSpPr>
          <p:nvPr>
            <p:ph type="title"/>
          </p:nvPr>
        </p:nvSpPr>
        <p:spPr>
          <a:xfrm>
            <a:off x="812800" y="1122125"/>
            <a:ext cx="10883392" cy="460693"/>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2213A"/>
                </a:solidFill>
                <a:latin typeface="Georgia" pitchFamily="18" charset="0"/>
                <a:ea typeface="Georgia" pitchFamily="18" charset="-122"/>
                <a:cs typeface="Georgia" pitchFamily="18" charset="-120"/>
              </a:rPr>
              <a:t>The Whitefield end of the Purple Line</a:t>
            </a:r>
            <a:endParaRPr lang="en-US" sz="3150" dirty="0"/>
          </a:p>
        </p:txBody>
      </p:sp>
      <p:sp>
        <p:nvSpPr>
          <p:cNvPr id="4" name="Text 2"/>
          <p:cNvSpPr/>
          <p:nvPr/>
        </p:nvSpPr>
        <p:spPr>
          <a:xfrm>
            <a:off x="812800" y="1811417"/>
            <a:ext cx="5232400" cy="233759"/>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75"/>
              </a:lnSpc>
              <a:spcBef>
                <a:spcPts val="0"/>
              </a:spcBef>
              <a:spcAft>
                <a:spcPts val="0"/>
              </a:spcAft>
              <a:buClrTx/>
              <a:buSzTx/>
              <a:buFontTx/>
              <a:buNone/>
              <a:tabLst/>
              <a:defRPr/>
            </a:pPr>
            <a:r>
              <a:rPr kumimoji="0" lang="en-US" sz="1196" b="1"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Namma Metro stations across Bengaluru</a:t>
            </a:r>
            <a:endParaRPr kumimoji="0" lang="en-US" sz="1196" b="0" i="0" u="none" strike="noStrike" kern="1200" cap="none" spc="0" normalizeH="0" baseline="0" noProof="0" dirty="0">
              <a:ln>
                <a:noFill/>
              </a:ln>
              <a:solidFill>
                <a:srgbClr val="12213A"/>
              </a:solidFill>
              <a:effectLst/>
              <a:uLnTx/>
              <a:uFillTx/>
              <a:latin typeface="Arial"/>
              <a:ea typeface="+mn-ea"/>
              <a:cs typeface="+mn-cs"/>
            </a:endParaRPr>
          </a:p>
        </p:txBody>
      </p:sp>
      <p:pic>
        <p:nvPicPr>
          <p:cNvPr id="5" name="Image 0" descr="OpenStreetMap of Bengaluru with Namma Metro stations as yellow dots along the Purple and Green lines"/>
          <p:cNvPicPr>
            <a:picLocks noChangeAspect="1"/>
          </p:cNvPicPr>
          <p:nvPr/>
        </p:nvPicPr>
        <p:blipFill>
          <a:blip r:embed="rId3"/>
          <a:srcRect t="1272" b="1272"/>
          <a:stretch/>
        </p:blipFill>
        <p:spPr>
          <a:xfrm>
            <a:off x="819150" y="2102326"/>
            <a:ext cx="5067300" cy="2753281"/>
          </a:xfrm>
          <a:prstGeom prst="roundRect">
            <a:avLst>
              <a:gd name="adj" fmla="val 2537"/>
            </a:avLst>
          </a:prstGeom>
        </p:spPr>
      </p:pic>
      <p:sp>
        <p:nvSpPr>
          <p:cNvPr id="6" name="Shape 3"/>
          <p:cNvSpPr/>
          <p:nvPr/>
        </p:nvSpPr>
        <p:spPr>
          <a:xfrm>
            <a:off x="815975" y="2099151"/>
            <a:ext cx="5073650" cy="2759631"/>
          </a:xfrm>
          <a:prstGeom prst="roundRect">
            <a:avLst>
              <a:gd name="adj" fmla="val 2646"/>
            </a:avLst>
          </a:prstGeom>
          <a:noFill/>
          <a:ln w="6350">
            <a:solidFill>
              <a:srgbClr val="C9D3DA"/>
            </a:solidFill>
            <a:prstDash val="solid"/>
          </a:ln>
        </p:spPr>
      </p:sp>
      <p:sp>
        <p:nvSpPr>
          <p:cNvPr id="7" name="Text 4"/>
          <p:cNvSpPr/>
          <p:nvPr/>
        </p:nvSpPr>
        <p:spPr>
          <a:xfrm>
            <a:off x="6299200" y="1811417"/>
            <a:ext cx="5232400" cy="233759"/>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75"/>
              </a:lnSpc>
              <a:spcBef>
                <a:spcPts val="0"/>
              </a:spcBef>
              <a:spcAft>
                <a:spcPts val="0"/>
              </a:spcAft>
              <a:buClrTx/>
              <a:buSzTx/>
              <a:buFontTx/>
              <a:buNone/>
              <a:tabLst/>
              <a:defRPr/>
            </a:pPr>
            <a:r>
              <a:rPr kumimoji="0" lang="en-US" sz="1196" b="1"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Pilot: 10 stations in a hexagon grid</a:t>
            </a:r>
            <a:endParaRPr kumimoji="0" lang="en-US" sz="1196" b="0" i="0" u="none" strike="noStrike" kern="1200" cap="none" spc="0" normalizeH="0" baseline="0" noProof="0" dirty="0">
              <a:ln>
                <a:noFill/>
              </a:ln>
              <a:solidFill>
                <a:srgbClr val="12213A"/>
              </a:solidFill>
              <a:effectLst/>
              <a:uLnTx/>
              <a:uFillTx/>
              <a:latin typeface="Arial"/>
              <a:ea typeface="+mn-ea"/>
              <a:cs typeface="+mn-cs"/>
            </a:endParaRPr>
          </a:p>
        </p:txBody>
      </p:sp>
      <p:pic>
        <p:nvPicPr>
          <p:cNvPr id="8" name="Image 1" descr="Hexagon grid covering the Whitefield corridor from KR Puram to Kadugodi, with the pilot stations as dark dots"/>
          <p:cNvPicPr>
            <a:picLocks noChangeAspect="1"/>
          </p:cNvPicPr>
          <p:nvPr/>
        </p:nvPicPr>
        <p:blipFill>
          <a:blip r:embed="rId4"/>
          <a:srcRect t="1703" b="1703"/>
          <a:stretch/>
        </p:blipFill>
        <p:spPr>
          <a:xfrm>
            <a:off x="6305550" y="2102326"/>
            <a:ext cx="5067300" cy="2753281"/>
          </a:xfrm>
          <a:prstGeom prst="roundRect">
            <a:avLst>
              <a:gd name="adj" fmla="val 2537"/>
            </a:avLst>
          </a:prstGeom>
        </p:spPr>
      </p:pic>
      <p:sp>
        <p:nvSpPr>
          <p:cNvPr id="9" name="Shape 5"/>
          <p:cNvSpPr/>
          <p:nvPr/>
        </p:nvSpPr>
        <p:spPr>
          <a:xfrm>
            <a:off x="6302375" y="2099151"/>
            <a:ext cx="5073650" cy="2759631"/>
          </a:xfrm>
          <a:prstGeom prst="roundRect">
            <a:avLst>
              <a:gd name="adj" fmla="val 2646"/>
            </a:avLst>
          </a:prstGeom>
          <a:noFill/>
          <a:ln w="6350">
            <a:solidFill>
              <a:srgbClr val="C9D3DA"/>
            </a:solidFill>
            <a:prstDash val="solid"/>
          </a:ln>
        </p:spPr>
      </p:sp>
      <p:sp>
        <p:nvSpPr>
          <p:cNvPr id="10" name="Text 6"/>
          <p:cNvSpPr/>
          <p:nvPr/>
        </p:nvSpPr>
        <p:spPr>
          <a:xfrm>
            <a:off x="812800" y="5115957"/>
            <a:ext cx="3488212" cy="751443"/>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10 stations</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Garudacharpalya to Whitefield (Kadugodi)</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p:txBody>
      </p:sp>
      <p:sp>
        <p:nvSpPr>
          <p:cNvPr id="11" name="Text 7"/>
          <p:cNvSpPr/>
          <p:nvPr/>
        </p:nvSpPr>
        <p:spPr>
          <a:xfrm>
            <a:off x="4402614" y="5115957"/>
            <a:ext cx="3488294" cy="751443"/>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453,687 residents</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in 572 hexagons of ~0.1 km²</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p:txBody>
      </p:sp>
      <p:sp>
        <p:nvSpPr>
          <p:cNvPr id="12" name="Text 8"/>
          <p:cNvSpPr/>
          <p:nvPr/>
        </p:nvSpPr>
        <p:spPr>
          <a:xfrm>
            <a:off x="7992507" y="5115957"/>
            <a:ext cx="3488294" cy="751443"/>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3 km buffer</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plus KR Puram and Singayyanapalya as edge stations</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p:txBody>
      </p:sp>
      <p:sp>
        <p:nvSpPr>
          <p:cNvPr id="13" name="Text 9"/>
          <p:cNvSpPr/>
          <p:nvPr/>
        </p:nvSpPr>
        <p:spPr>
          <a:xfrm>
            <a:off x="812800" y="6238241"/>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F6875"/>
                </a:solidFill>
                <a:effectLst/>
                <a:uLnTx/>
                <a:uFillTx/>
                <a:latin typeface="Arial" pitchFamily="34" charset="0"/>
                <a:ea typeface="Arial" pitchFamily="34" charset="-122"/>
                <a:cs typeface="Arial" pitchFamily="34" charset="-120"/>
              </a:rPr>
              <a:t>Maps: QGIS on OpenStreetMap © OpenStreetMap contributors · population: WorldPop 2020 · 3</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A7C5A"/>
                </a:solidFill>
                <a:effectLst/>
                <a:uLnTx/>
                <a:uFillTx/>
                <a:latin typeface="Arial" pitchFamily="34" charset="0"/>
                <a:ea typeface="Arial" pitchFamily="34" charset="-122"/>
                <a:cs typeface="Arial" pitchFamily="34" charset="-120"/>
              </a:rPr>
              <a:t>RESULTS · 1</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3" name="Text 1"/>
          <p:cNvSpPr>
            <a:spLocks noGrp="1"/>
          </p:cNvSpPr>
          <p:nvPr>
            <p:ph type="title"/>
          </p:nvPr>
        </p:nvSpPr>
        <p:spPr>
          <a:xfrm>
            <a:off x="812800" y="1127764"/>
            <a:ext cx="11379200"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13A"/>
                </a:solidFill>
                <a:latin typeface="Georgia" pitchFamily="18" charset="0"/>
                <a:ea typeface="Georgia" pitchFamily="18" charset="-122"/>
                <a:cs typeface="Georgia" pitchFamily="18" charset="-120"/>
              </a:rPr>
              <a:t>Doorstep e-bikes double the 15-minute catchment</a:t>
            </a:r>
            <a:endParaRPr lang="en-US" sz="3200" dirty="0"/>
          </a:p>
        </p:txBody>
      </p:sp>
      <p:sp>
        <p:nvSpPr>
          <p:cNvPr id="4" name="Shape 2"/>
          <p:cNvSpPr/>
          <p:nvPr/>
        </p:nvSpPr>
        <p:spPr>
          <a:xfrm>
            <a:off x="812800" y="1879600"/>
            <a:ext cx="7493000" cy="3746500"/>
          </a:xfrm>
          <a:prstGeom prst="roundRect">
            <a:avLst>
              <a:gd name="adj" fmla="val 2034"/>
            </a:avLst>
          </a:prstGeom>
          <a:solidFill>
            <a:srgbClr val="FFFFFF"/>
          </a:solidFill>
          <a:ln/>
        </p:spPr>
      </p:sp>
      <p:pic>
        <p:nvPicPr>
          <p:cNvPr id="5" name="Image 0" descr="Hexagon maps of the Whitefield corridor at 15 and 20 minutes: blue walk catchment around stations, green e-bike uplift ring, orange e-auto reach, grey unserved cells"/>
          <p:cNvPicPr>
            <a:picLocks noChangeAspect="1"/>
          </p:cNvPicPr>
          <p:nvPr/>
        </p:nvPicPr>
        <p:blipFill>
          <a:blip r:embed="rId3"/>
          <a:srcRect l="-85" r="-85"/>
          <a:stretch/>
        </p:blipFill>
        <p:spPr>
          <a:xfrm>
            <a:off x="819150" y="1885950"/>
            <a:ext cx="7480300" cy="3733800"/>
          </a:xfrm>
          <a:prstGeom prst="roundRect">
            <a:avLst>
              <a:gd name="adj" fmla="val 1871"/>
            </a:avLst>
          </a:prstGeom>
        </p:spPr>
      </p:pic>
      <p:sp>
        <p:nvSpPr>
          <p:cNvPr id="6" name="Shape 3"/>
          <p:cNvSpPr/>
          <p:nvPr/>
        </p:nvSpPr>
        <p:spPr>
          <a:xfrm>
            <a:off x="815975" y="1882775"/>
            <a:ext cx="7486650" cy="3740150"/>
          </a:xfrm>
          <a:prstGeom prst="roundRect">
            <a:avLst>
              <a:gd name="adj" fmla="val 1952"/>
            </a:avLst>
          </a:prstGeom>
          <a:noFill/>
          <a:ln w="6350">
            <a:solidFill>
              <a:srgbClr val="D9D4C7"/>
            </a:solidFill>
            <a:prstDash val="solid"/>
          </a:ln>
        </p:spPr>
      </p:sp>
      <p:sp>
        <p:nvSpPr>
          <p:cNvPr id="7" name="Text 4"/>
          <p:cNvSpPr/>
          <p:nvPr/>
        </p:nvSpPr>
        <p:spPr>
          <a:xfrm>
            <a:off x="8610600" y="1879600"/>
            <a:ext cx="285165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E4FD8"/>
                </a:solidFill>
                <a:effectLst/>
                <a:uLnTx/>
                <a:uFillTx/>
                <a:latin typeface="Georgia" pitchFamily="18" charset="0"/>
                <a:ea typeface="Georgia" pitchFamily="18" charset="-122"/>
                <a:cs typeface="Georgia" pitchFamily="18" charset="-120"/>
              </a:rPr>
              <a:t>66,417</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8" name="Text 5"/>
          <p:cNvSpPr/>
          <p:nvPr/>
        </p:nvSpPr>
        <p:spPr>
          <a:xfrm>
            <a:off x="8610600" y="2352042"/>
            <a:ext cx="285165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walk in 15 min (14.6%)</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9" name="Text 6"/>
          <p:cNvSpPr/>
          <p:nvPr/>
        </p:nvSpPr>
        <p:spPr>
          <a:xfrm>
            <a:off x="8610600" y="2768600"/>
            <a:ext cx="285165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A7C5A"/>
                </a:solidFill>
                <a:effectLst/>
                <a:uLnTx/>
                <a:uFillTx/>
                <a:latin typeface="Georgia" pitchFamily="18" charset="0"/>
                <a:ea typeface="Georgia" pitchFamily="18" charset="-122"/>
                <a:cs typeface="Georgia" pitchFamily="18" charset="-120"/>
              </a:rPr>
              <a:t>+69,215</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10" name="Text 7"/>
          <p:cNvSpPr/>
          <p:nvPr/>
        </p:nvSpPr>
        <p:spPr>
          <a:xfrm>
            <a:off x="8610600" y="3241042"/>
            <a:ext cx="285165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added by e-bike (+15.3%)</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1" name="Text 8"/>
          <p:cNvSpPr/>
          <p:nvPr/>
        </p:nvSpPr>
        <p:spPr>
          <a:xfrm>
            <a:off x="8610600" y="3657600"/>
            <a:ext cx="285165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2213A"/>
                </a:solidFill>
                <a:effectLst/>
                <a:uLnTx/>
                <a:uFillTx/>
                <a:latin typeface="Georgia" pitchFamily="18" charset="0"/>
                <a:ea typeface="Georgia" pitchFamily="18" charset="-122"/>
                <a:cs typeface="Georgia" pitchFamily="18" charset="-120"/>
              </a:rPr>
              <a:t>135,632</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12" name="Text 9"/>
          <p:cNvSpPr/>
          <p:nvPr/>
        </p:nvSpPr>
        <p:spPr>
          <a:xfrm>
            <a:off x="8610600" y="4130042"/>
            <a:ext cx="285165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walk or e-bike (29.9%)</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3" name="Text 10"/>
          <p:cNvSpPr/>
          <p:nvPr/>
        </p:nvSpPr>
        <p:spPr>
          <a:xfrm>
            <a:off x="8610600" y="4546600"/>
            <a:ext cx="285165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46505E"/>
                </a:solidFill>
                <a:effectLst/>
                <a:uLnTx/>
                <a:uFillTx/>
                <a:latin typeface="Georgia" pitchFamily="18" charset="0"/>
                <a:ea typeface="Georgia" pitchFamily="18" charset="-122"/>
                <a:cs typeface="Georgia" pitchFamily="18" charset="-120"/>
              </a:rPr>
              <a:t>247,029</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14" name="Text 11"/>
          <p:cNvSpPr/>
          <p:nvPr/>
        </p:nvSpPr>
        <p:spPr>
          <a:xfrm>
            <a:off x="8610600" y="5019042"/>
            <a:ext cx="285165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walk or e-bike at 20 min (54.4%)</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5" name="Text 12"/>
          <p:cNvSpPr/>
          <p:nvPr/>
        </p:nvSpPr>
        <p:spPr>
          <a:xfrm>
            <a:off x="812800" y="6238242"/>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F6875"/>
                </a:solidFill>
                <a:effectLst/>
                <a:uLnTx/>
                <a:uFillTx/>
                <a:latin typeface="Arial" pitchFamily="34" charset="0"/>
                <a:ea typeface="Arial" pitchFamily="34" charset="-122"/>
                <a:cs typeface="Arial" pitchFamily="34" charset="-120"/>
              </a:rPr>
              <a:t>Doorstep = a bike waits at your start: an upper bound. Blue walk · green e-bike · orange e-auto · grey unserved · 9</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198" y="147730"/>
            <a:ext cx="10728655" cy="10515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950" b="1">
                <a:solidFill>
                  <a:srgbClr val="2563EB"/>
                </a:solidFill>
                <a:latin typeface="Calibri"/>
              </a:defRPr>
            </a:pPr>
            <a:r>
              <a:rPr kumimoji="0" sz="950" b="1" i="0" u="none" strike="noStrike" kern="1200" cap="none" spc="0" normalizeH="0" baseline="0" noProof="0" dirty="0">
                <a:ln>
                  <a:noFill/>
                </a:ln>
                <a:solidFill>
                  <a:srgbClr val="2563EB"/>
                </a:solidFill>
                <a:effectLst/>
                <a:uLnTx/>
                <a:uFillTx/>
                <a:latin typeface="Calibri"/>
                <a:ea typeface="+mn-ea"/>
                <a:cs typeface="+mn-cs"/>
              </a:rPr>
              <a:t>TRANSIT EQUITY &amp; STATION PRIORITIZATION</a:t>
            </a:r>
          </a:p>
          <a:p>
            <a:pPr marL="0" marR="0" lvl="0" indent="0" algn="l" defTabSz="457200" rtl="0" eaLnBrk="1" fontAlgn="auto" latinLnBrk="0" hangingPunct="1">
              <a:lnSpc>
                <a:spcPct val="100000"/>
              </a:lnSpc>
              <a:spcBef>
                <a:spcPts val="0"/>
              </a:spcBef>
              <a:spcAft>
                <a:spcPts val="300"/>
              </a:spcAft>
              <a:buClrTx/>
              <a:buSzTx/>
              <a:buFontTx/>
              <a:buNone/>
              <a:tabLst/>
              <a:defRPr sz="2100" b="1">
                <a:solidFill>
                  <a:srgbClr val="0F172A"/>
                </a:solidFill>
                <a:latin typeface="Calibri"/>
              </a:defRPr>
            </a:pPr>
            <a:r>
              <a:rPr kumimoji="0" sz="2100" b="1" i="0" u="none" strike="noStrike" kern="1200" cap="none" spc="0" normalizeH="0" baseline="0" noProof="0" dirty="0">
                <a:ln>
                  <a:noFill/>
                </a:ln>
                <a:solidFill>
                  <a:srgbClr val="0F172A"/>
                </a:solidFill>
                <a:effectLst/>
                <a:uLnTx/>
                <a:uFillTx/>
                <a:latin typeface="Calibri"/>
                <a:ea typeface="+mn-ea"/>
                <a:cs typeface="+mn-cs"/>
              </a:rPr>
              <a:t>Resolving the </a:t>
            </a:r>
            <a:r>
              <a:rPr kumimoji="0" sz="2100" b="1" i="0" u="none" strike="noStrike" kern="1200" cap="none" spc="0" normalizeH="0" baseline="0" noProof="0" dirty="0" err="1">
                <a:ln>
                  <a:noFill/>
                </a:ln>
                <a:solidFill>
                  <a:srgbClr val="0F172A"/>
                </a:solidFill>
                <a:effectLst/>
                <a:uLnTx/>
                <a:uFillTx/>
                <a:latin typeface="Calibri"/>
                <a:ea typeface="+mn-ea"/>
                <a:cs typeface="+mn-cs"/>
              </a:rPr>
              <a:t>Hopefarm</a:t>
            </a:r>
            <a:r>
              <a:rPr kumimoji="0" sz="2100" b="1" i="0" u="none" strike="noStrike" kern="1200" cap="none" spc="0" normalizeH="0" baseline="0" noProof="0" dirty="0">
                <a:ln>
                  <a:noFill/>
                </a:ln>
                <a:solidFill>
                  <a:srgbClr val="0F172A"/>
                </a:solidFill>
                <a:effectLst/>
                <a:uLnTx/>
                <a:uFillTx/>
                <a:latin typeface="Calibri"/>
                <a:ea typeface="+mn-ea"/>
                <a:cs typeface="+mn-cs"/>
              </a:rPr>
              <a:t> Paradox: Need vs. Ridership Balancing</a:t>
            </a:r>
          </a:p>
          <a:p>
            <a:pPr marL="0" marR="0" lvl="0" indent="0" algn="l" defTabSz="457200" rtl="0" eaLnBrk="1" fontAlgn="auto" latinLnBrk="0" hangingPunct="1">
              <a:lnSpc>
                <a:spcPct val="100000"/>
              </a:lnSpc>
              <a:spcBef>
                <a:spcPts val="0"/>
              </a:spcBef>
              <a:spcAft>
                <a:spcPts val="0"/>
              </a:spcAft>
              <a:buClrTx/>
              <a:buSzTx/>
              <a:buFontTx/>
              <a:buNone/>
              <a:tabLst/>
              <a:defRPr sz="1100">
                <a:solidFill>
                  <a:srgbClr val="64748B"/>
                </a:solidFill>
                <a:latin typeface="Calibri"/>
              </a:defRPr>
            </a:pPr>
            <a:r>
              <a:rPr kumimoji="0" sz="1100" b="0" i="0" u="none" strike="noStrike" kern="1200" cap="none" spc="0" normalizeH="0" baseline="0" noProof="0" dirty="0">
                <a:ln>
                  <a:noFill/>
                </a:ln>
                <a:solidFill>
                  <a:srgbClr val="64748B"/>
                </a:solidFill>
                <a:effectLst/>
                <a:uLnTx/>
                <a:uFillTx/>
                <a:latin typeface="Calibri"/>
                <a:ea typeface="+mn-ea"/>
                <a:cs typeface="+mn-cs"/>
              </a:rPr>
              <a:t>Why allocating feeder capital purely on existing ridership penalizes the most vulnerable transit deserts</a:t>
            </a:r>
          </a:p>
        </p:txBody>
      </p:sp>
      <p:sp>
        <p:nvSpPr>
          <p:cNvPr id="3" name="Rounded Rectangle 2"/>
          <p:cNvSpPr/>
          <p:nvPr/>
        </p:nvSpPr>
        <p:spPr>
          <a:xfrm>
            <a:off x="308242" y="800100"/>
            <a:ext cx="11331678"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3" descr="fig06_station_priority_slope.png"/>
          <p:cNvPicPr>
            <a:picLocks noChangeAspect="1"/>
          </p:cNvPicPr>
          <p:nvPr/>
        </p:nvPicPr>
        <p:blipFill>
          <a:blip r:embed="rId3"/>
          <a:stretch>
            <a:fillRect/>
          </a:stretch>
        </p:blipFill>
        <p:spPr>
          <a:xfrm>
            <a:off x="2989213" y="927699"/>
            <a:ext cx="6457413" cy="3834089"/>
          </a:xfrm>
          <a:prstGeom prst="rect">
            <a:avLst/>
          </a:prstGeom>
        </p:spPr>
      </p:pic>
      <p:sp>
        <p:nvSpPr>
          <p:cNvPr id="7" name="Rounded Rectangle 6"/>
          <p:cNvSpPr/>
          <p:nvPr/>
        </p:nvSpPr>
        <p:spPr>
          <a:xfrm>
            <a:off x="692652" y="5247230"/>
            <a:ext cx="52422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945030" y="5338670"/>
            <a:ext cx="4876495" cy="12801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1200" b="1">
                <a:solidFill>
                  <a:srgbClr val="2563EB"/>
                </a:solidFill>
              </a:defRPr>
            </a:pPr>
            <a:r>
              <a:rPr kumimoji="0" sz="1200" b="1" i="0" u="none" strike="noStrike" kern="1200" cap="none" spc="0" normalizeH="0" baseline="0" noProof="0" dirty="0">
                <a:ln>
                  <a:noFill/>
                </a:ln>
                <a:solidFill>
                  <a:srgbClr val="2563EB"/>
                </a:solidFill>
                <a:effectLst/>
                <a:uLnTx/>
                <a:uFillTx/>
                <a:latin typeface="Calibri"/>
                <a:ea typeface="+mn-ea"/>
                <a:cs typeface="+mn-cs"/>
              </a:rPr>
              <a:t>⚖️ The </a:t>
            </a:r>
            <a:r>
              <a:rPr kumimoji="0" sz="1200" b="1" i="0" u="none" strike="noStrike" kern="1200" cap="none" spc="0" normalizeH="0" baseline="0" noProof="0" dirty="0" err="1">
                <a:ln>
                  <a:noFill/>
                </a:ln>
                <a:solidFill>
                  <a:srgbClr val="2563EB"/>
                </a:solidFill>
                <a:effectLst/>
                <a:uLnTx/>
                <a:uFillTx/>
                <a:latin typeface="Calibri"/>
                <a:ea typeface="+mn-ea"/>
                <a:cs typeface="+mn-cs"/>
              </a:rPr>
              <a:t>UrbanFluX</a:t>
            </a:r>
            <a:r>
              <a:rPr kumimoji="0" sz="1200" b="1" i="0" u="none" strike="noStrike" kern="1200" cap="none" spc="0" normalizeH="0" baseline="0" noProof="0" dirty="0">
                <a:ln>
                  <a:noFill/>
                </a:ln>
                <a:solidFill>
                  <a:srgbClr val="2563EB"/>
                </a:solidFill>
                <a:effectLst/>
                <a:uLnTx/>
                <a:uFillTx/>
                <a:latin typeface="Calibri"/>
                <a:ea typeface="+mn-ea"/>
                <a:cs typeface="+mn-cs"/>
              </a:rPr>
              <a:t> Composite Balancing Metric</a:t>
            </a:r>
          </a:p>
          <a:p>
            <a:pPr marL="0" marR="0" lvl="0" indent="0" algn="l" defTabSz="457200" rtl="0" eaLnBrk="1" fontAlgn="auto" latinLnBrk="0" hangingPunct="1">
              <a:lnSpc>
                <a:spcPct val="100000"/>
              </a:lnSpc>
              <a:spcBef>
                <a:spcPts val="0"/>
              </a:spcBef>
              <a:spcAft>
                <a:spcPts val="0"/>
              </a:spcAft>
              <a:buClrTx/>
              <a:buSzTx/>
              <a:buFontTx/>
              <a:buNone/>
              <a:tabLst/>
              <a:defRPr sz="919">
                <a:solidFill>
                  <a:srgbClr val="0F172A"/>
                </a:solidFill>
              </a:defRPr>
            </a:pPr>
            <a:r>
              <a:rPr kumimoji="0" sz="919" b="0" i="0" u="none" strike="noStrike" kern="1200" cap="none" spc="0" normalizeH="0" baseline="0" noProof="0" dirty="0">
                <a:ln>
                  <a:noFill/>
                </a:ln>
                <a:solidFill>
                  <a:srgbClr val="0F172A"/>
                </a:solidFill>
                <a:effectLst/>
                <a:uLnTx/>
                <a:uFillTx/>
                <a:latin typeface="Calibri"/>
                <a:ea typeface="+mn-ea"/>
                <a:cs typeface="+mn-cs"/>
              </a:rPr>
              <a:t>• Formula: Priority Score = Unserved Need (&gt;15m walk) × √(Daily Boardings)</a:t>
            </a:r>
            <a:br>
              <a:rPr kumimoji="0" sz="919" b="0" i="0" u="none" strike="noStrike" kern="1200" cap="none" spc="0" normalizeH="0" baseline="0" noProof="0" dirty="0">
                <a:ln>
                  <a:noFill/>
                </a:ln>
                <a:solidFill>
                  <a:srgbClr val="0F172A"/>
                </a:solidFill>
                <a:effectLst/>
                <a:uLnTx/>
                <a:uFillTx/>
                <a:latin typeface="Calibri"/>
                <a:ea typeface="+mn-ea"/>
                <a:cs typeface="+mn-cs"/>
              </a:rPr>
            </a:br>
            <a:r>
              <a:rPr kumimoji="0" sz="919" b="0" i="0" u="none" strike="noStrike" kern="1200" cap="none" spc="0" normalizeH="0" baseline="0" noProof="0" dirty="0">
                <a:ln>
                  <a:noFill/>
                </a:ln>
                <a:solidFill>
                  <a:srgbClr val="0F172A"/>
                </a:solidFill>
                <a:effectLst/>
                <a:uLnTx/>
                <a:uFillTx/>
                <a:latin typeface="Calibri"/>
                <a:ea typeface="+mn-ea"/>
                <a:cs typeface="+mn-cs"/>
              </a:rPr>
              <a:t>• Rationale: The square-root transform dampens ridership bias from terminal stations while ensuring transit equity for underserved suburban hubs.</a:t>
            </a:r>
            <a:br>
              <a:rPr kumimoji="0" sz="919" b="0" i="0" u="none" strike="noStrike" kern="1200" cap="none" spc="0" normalizeH="0" baseline="0" noProof="0" dirty="0">
                <a:ln>
                  <a:noFill/>
                </a:ln>
                <a:solidFill>
                  <a:srgbClr val="0F172A"/>
                </a:solidFill>
                <a:effectLst/>
                <a:uLnTx/>
                <a:uFillTx/>
                <a:latin typeface="Calibri"/>
                <a:ea typeface="+mn-ea"/>
                <a:cs typeface="+mn-cs"/>
              </a:rPr>
            </a:br>
            <a:r>
              <a:rPr kumimoji="0" sz="919" b="0" i="0" u="none" strike="noStrike" kern="1200" cap="none" spc="0" normalizeH="0" baseline="0" noProof="0" dirty="0">
                <a:ln>
                  <a:noFill/>
                </a:ln>
                <a:solidFill>
                  <a:srgbClr val="0F172A"/>
                </a:solidFill>
                <a:effectLst/>
                <a:uLnTx/>
                <a:uFillTx/>
                <a:latin typeface="Calibri"/>
                <a:ea typeface="+mn-ea"/>
                <a:cs typeface="+mn-cs"/>
              </a:rPr>
              <a:t>• Balanced Result: </a:t>
            </a:r>
            <a:r>
              <a:rPr kumimoji="0" sz="919" b="0" i="0" u="none" strike="noStrike" kern="1200" cap="none" spc="0" normalizeH="0" baseline="0" noProof="0" dirty="0" err="1">
                <a:ln>
                  <a:noFill/>
                </a:ln>
                <a:solidFill>
                  <a:srgbClr val="0F172A"/>
                </a:solidFill>
                <a:effectLst/>
                <a:uLnTx/>
                <a:uFillTx/>
                <a:latin typeface="Calibri"/>
                <a:ea typeface="+mn-ea"/>
                <a:cs typeface="+mn-cs"/>
              </a:rPr>
              <a:t>Hopefarm</a:t>
            </a:r>
            <a:r>
              <a:rPr kumimoji="0" sz="919" b="0" i="0" u="none" strike="noStrike" kern="1200" cap="none" spc="0" normalizeH="0" baseline="0" noProof="0" dirty="0">
                <a:ln>
                  <a:noFill/>
                </a:ln>
                <a:solidFill>
                  <a:srgbClr val="0F172A"/>
                </a:solidFill>
                <a:effectLst/>
                <a:uLnTx/>
                <a:uFillTx/>
                <a:latin typeface="Calibri"/>
                <a:ea typeface="+mn-ea"/>
                <a:cs typeface="+mn-cs"/>
              </a:rPr>
              <a:t> elevates to Rank #3 in overall corridor priority, ensuring it receives feeder investment.</a:t>
            </a:r>
          </a:p>
        </p:txBody>
      </p:sp>
      <p:sp>
        <p:nvSpPr>
          <p:cNvPr id="9" name="Rounded Rectangle 8"/>
          <p:cNvSpPr/>
          <p:nvPr/>
        </p:nvSpPr>
        <p:spPr>
          <a:xfrm>
            <a:off x="6360058" y="5268370"/>
            <a:ext cx="52422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6542937" y="5423965"/>
            <a:ext cx="4876495" cy="13258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1200" b="1">
                <a:solidFill>
                  <a:srgbClr val="059669"/>
                </a:solidFill>
              </a:defRPr>
            </a:pPr>
            <a:r>
              <a:rPr kumimoji="0" sz="1200" b="1" i="0" u="none" strike="noStrike" kern="1200" cap="none" spc="0" normalizeH="0" baseline="0" noProof="0" dirty="0">
                <a:ln>
                  <a:noFill/>
                </a:ln>
                <a:solidFill>
                  <a:srgbClr val="059669"/>
                </a:solidFill>
                <a:effectLst/>
                <a:uLnTx/>
                <a:uFillTx/>
                <a:latin typeface="Calibri"/>
                <a:ea typeface="+mn-ea"/>
                <a:cs typeface="+mn-cs"/>
              </a:rPr>
              <a:t>📊 Top Corridor Priority Allocations</a:t>
            </a:r>
          </a:p>
          <a:p>
            <a:pPr marL="0" marR="0" lvl="0" indent="0" algn="l" defTabSz="457200" rtl="0" eaLnBrk="1" fontAlgn="auto" latinLnBrk="0" hangingPunct="1">
              <a:lnSpc>
                <a:spcPct val="100000"/>
              </a:lnSpc>
              <a:spcBef>
                <a:spcPts val="0"/>
              </a:spcBef>
              <a:spcAft>
                <a:spcPts val="0"/>
              </a:spcAft>
              <a:buClrTx/>
              <a:buSzTx/>
              <a:buFontTx/>
              <a:buNone/>
              <a:tabLst/>
              <a:defRPr sz="919">
                <a:solidFill>
                  <a:srgbClr val="0F172A"/>
                </a:solidFill>
              </a:defRPr>
            </a:pPr>
            <a:r>
              <a:rPr kumimoji="0" sz="919" b="0" i="0" u="none" strike="noStrike" kern="1200" cap="none" spc="0" normalizeH="0" baseline="0" noProof="0" dirty="0">
                <a:ln>
                  <a:noFill/>
                </a:ln>
                <a:solidFill>
                  <a:srgbClr val="0F172A"/>
                </a:solidFill>
                <a:effectLst/>
                <a:uLnTx/>
                <a:uFillTx/>
                <a:latin typeface="Calibri"/>
                <a:ea typeface="+mn-ea"/>
                <a:cs typeface="+mn-cs"/>
              </a:rPr>
              <a:t>• Rank 1: Whitefield (</a:t>
            </a:r>
            <a:r>
              <a:rPr kumimoji="0" sz="919" b="0" i="0" u="none" strike="noStrike" kern="1200" cap="none" spc="0" normalizeH="0" baseline="0" noProof="0" dirty="0" err="1">
                <a:ln>
                  <a:noFill/>
                </a:ln>
                <a:solidFill>
                  <a:srgbClr val="0F172A"/>
                </a:solidFill>
                <a:effectLst/>
                <a:uLnTx/>
                <a:uFillTx/>
                <a:latin typeface="Calibri"/>
                <a:ea typeface="+mn-ea"/>
                <a:cs typeface="+mn-cs"/>
              </a:rPr>
              <a:t>Kadugodi</a:t>
            </a:r>
            <a:r>
              <a:rPr kumimoji="0" sz="919" b="0" i="0" u="none" strike="noStrike" kern="1200" cap="none" spc="0" normalizeH="0" baseline="0" noProof="0" dirty="0">
                <a:ln>
                  <a:noFill/>
                </a:ln>
                <a:solidFill>
                  <a:srgbClr val="0F172A"/>
                </a:solidFill>
                <a:effectLst/>
                <a:uLnTx/>
                <a:uFillTx/>
                <a:latin typeface="Calibri"/>
                <a:ea typeface="+mn-ea"/>
                <a:cs typeface="+mn-cs"/>
              </a:rPr>
              <a:t>) — 53.6k unserved, 18.2k boardings (Tier 1 Priority)</a:t>
            </a:r>
            <a:br>
              <a:rPr kumimoji="0" sz="919" b="0" i="0" u="none" strike="noStrike" kern="1200" cap="none" spc="0" normalizeH="0" baseline="0" noProof="0" dirty="0">
                <a:ln>
                  <a:noFill/>
                </a:ln>
                <a:solidFill>
                  <a:srgbClr val="0F172A"/>
                </a:solidFill>
                <a:effectLst/>
                <a:uLnTx/>
                <a:uFillTx/>
                <a:latin typeface="Calibri"/>
                <a:ea typeface="+mn-ea"/>
                <a:cs typeface="+mn-cs"/>
              </a:rPr>
            </a:br>
            <a:r>
              <a:rPr kumimoji="0" sz="919" b="0" i="0" u="none" strike="noStrike" kern="1200" cap="none" spc="0" normalizeH="0" baseline="0" noProof="0" dirty="0">
                <a:ln>
                  <a:noFill/>
                </a:ln>
                <a:solidFill>
                  <a:srgbClr val="0F172A"/>
                </a:solidFill>
                <a:effectLst/>
                <a:uLnTx/>
                <a:uFillTx/>
                <a:latin typeface="Calibri"/>
                <a:ea typeface="+mn-ea"/>
                <a:cs typeface="+mn-cs"/>
              </a:rPr>
              <a:t>• Rank 2: </a:t>
            </a:r>
            <a:r>
              <a:rPr kumimoji="0" sz="919" b="0" i="0" u="none" strike="noStrike" kern="1200" cap="none" spc="0" normalizeH="0" baseline="0" noProof="0" dirty="0" err="1">
                <a:ln>
                  <a:noFill/>
                </a:ln>
                <a:solidFill>
                  <a:srgbClr val="0F172A"/>
                </a:solidFill>
                <a:effectLst/>
                <a:uLnTx/>
                <a:uFillTx/>
                <a:latin typeface="Calibri"/>
                <a:ea typeface="+mn-ea"/>
                <a:cs typeface="+mn-cs"/>
              </a:rPr>
              <a:t>Kundalahalli</a:t>
            </a:r>
            <a:r>
              <a:rPr kumimoji="0" sz="919" b="0" i="0" u="none" strike="noStrike" kern="1200" cap="none" spc="0" normalizeH="0" baseline="0" noProof="0" dirty="0">
                <a:ln>
                  <a:noFill/>
                </a:ln>
                <a:solidFill>
                  <a:srgbClr val="0F172A"/>
                </a:solidFill>
                <a:effectLst/>
                <a:uLnTx/>
                <a:uFillTx/>
                <a:latin typeface="Calibri"/>
                <a:ea typeface="+mn-ea"/>
                <a:cs typeface="+mn-cs"/>
              </a:rPr>
              <a:t> — 48.9k unserved, 12.4k boardings (Tier 1 Priority)</a:t>
            </a:r>
            <a:br>
              <a:rPr kumimoji="0" sz="919" b="0" i="0" u="none" strike="noStrike" kern="1200" cap="none" spc="0" normalizeH="0" baseline="0" noProof="0" dirty="0">
                <a:ln>
                  <a:noFill/>
                </a:ln>
                <a:solidFill>
                  <a:srgbClr val="0F172A"/>
                </a:solidFill>
                <a:effectLst/>
                <a:uLnTx/>
                <a:uFillTx/>
                <a:latin typeface="Calibri"/>
                <a:ea typeface="+mn-ea"/>
                <a:cs typeface="+mn-cs"/>
              </a:rPr>
            </a:br>
            <a:r>
              <a:rPr kumimoji="0" sz="919" b="0" i="0" u="none" strike="noStrike" kern="1200" cap="none" spc="0" normalizeH="0" baseline="0" noProof="0" dirty="0">
                <a:ln>
                  <a:noFill/>
                </a:ln>
                <a:solidFill>
                  <a:srgbClr val="0F172A"/>
                </a:solidFill>
                <a:effectLst/>
                <a:uLnTx/>
                <a:uFillTx/>
                <a:latin typeface="Calibri"/>
                <a:ea typeface="+mn-ea"/>
                <a:cs typeface="+mn-cs"/>
              </a:rPr>
              <a:t>• Rank 3: </a:t>
            </a:r>
            <a:r>
              <a:rPr kumimoji="0" sz="919" b="0" i="0" u="none" strike="noStrike" kern="1200" cap="none" spc="0" normalizeH="0" baseline="0" noProof="0" dirty="0" err="1">
                <a:ln>
                  <a:noFill/>
                </a:ln>
                <a:solidFill>
                  <a:srgbClr val="0F172A"/>
                </a:solidFill>
                <a:effectLst/>
                <a:uLnTx/>
                <a:uFillTx/>
                <a:latin typeface="Calibri"/>
                <a:ea typeface="+mn-ea"/>
                <a:cs typeface="+mn-cs"/>
              </a:rPr>
              <a:t>Hopefarm</a:t>
            </a:r>
            <a:r>
              <a:rPr kumimoji="0" sz="919" b="0" i="0" u="none" strike="noStrike" kern="1200" cap="none" spc="0" normalizeH="0" baseline="0" noProof="0" dirty="0">
                <a:ln>
                  <a:noFill/>
                </a:ln>
                <a:solidFill>
                  <a:srgbClr val="0F172A"/>
                </a:solidFill>
                <a:effectLst/>
                <a:uLnTx/>
                <a:uFillTx/>
                <a:latin typeface="Calibri"/>
                <a:ea typeface="+mn-ea"/>
                <a:cs typeface="+mn-cs"/>
              </a:rPr>
              <a:t> </a:t>
            </a:r>
            <a:r>
              <a:rPr kumimoji="0" sz="919" b="0" i="0" u="none" strike="noStrike" kern="1200" cap="none" spc="0" normalizeH="0" baseline="0" noProof="0" dirty="0" err="1">
                <a:ln>
                  <a:noFill/>
                </a:ln>
                <a:solidFill>
                  <a:srgbClr val="0F172A"/>
                </a:solidFill>
                <a:effectLst/>
                <a:uLnTx/>
                <a:uFillTx/>
                <a:latin typeface="Calibri"/>
                <a:ea typeface="+mn-ea"/>
                <a:cs typeface="+mn-cs"/>
              </a:rPr>
              <a:t>Channasandra</a:t>
            </a:r>
            <a:r>
              <a:rPr kumimoji="0" sz="919" b="0" i="0" u="none" strike="noStrike" kern="1200" cap="none" spc="0" normalizeH="0" baseline="0" noProof="0" dirty="0">
                <a:ln>
                  <a:noFill/>
                </a:ln>
                <a:solidFill>
                  <a:srgbClr val="0F172A"/>
                </a:solidFill>
                <a:effectLst/>
                <a:uLnTx/>
                <a:uFillTx/>
                <a:latin typeface="Calibri"/>
                <a:ea typeface="+mn-ea"/>
                <a:cs typeface="+mn-cs"/>
              </a:rPr>
              <a:t> — 44.6k unserved, 6.2k boardings (Tier 1 Priority)</a:t>
            </a:r>
            <a:br>
              <a:rPr kumimoji="0" sz="919" b="0" i="0" u="none" strike="noStrike" kern="1200" cap="none" spc="0" normalizeH="0" baseline="0" noProof="0" dirty="0">
                <a:ln>
                  <a:noFill/>
                </a:ln>
                <a:solidFill>
                  <a:srgbClr val="0F172A"/>
                </a:solidFill>
                <a:effectLst/>
                <a:uLnTx/>
                <a:uFillTx/>
                <a:latin typeface="Calibri"/>
                <a:ea typeface="+mn-ea"/>
                <a:cs typeface="+mn-cs"/>
              </a:rPr>
            </a:br>
            <a:r>
              <a:rPr kumimoji="0" sz="919" b="0" i="0" u="none" strike="noStrike" kern="1200" cap="none" spc="0" normalizeH="0" baseline="0" noProof="0" dirty="0">
                <a:ln>
                  <a:noFill/>
                </a:ln>
                <a:solidFill>
                  <a:srgbClr val="0F172A"/>
                </a:solidFill>
                <a:effectLst/>
                <a:uLnTx/>
                <a:uFillTx/>
                <a:latin typeface="Calibri"/>
                <a:ea typeface="+mn-ea"/>
                <a:cs typeface="+mn-cs"/>
              </a:rPr>
              <a:t>• Rank 4: </a:t>
            </a:r>
            <a:r>
              <a:rPr kumimoji="0" sz="919" b="0" i="0" u="none" strike="noStrike" kern="1200" cap="none" spc="0" normalizeH="0" baseline="0" noProof="0" dirty="0" err="1">
                <a:ln>
                  <a:noFill/>
                </a:ln>
                <a:solidFill>
                  <a:srgbClr val="0F172A"/>
                </a:solidFill>
                <a:effectLst/>
                <a:uLnTx/>
                <a:uFillTx/>
                <a:latin typeface="Calibri"/>
                <a:ea typeface="+mn-ea"/>
                <a:cs typeface="+mn-cs"/>
              </a:rPr>
              <a:t>Hoodi</a:t>
            </a:r>
            <a:r>
              <a:rPr kumimoji="0" sz="919" b="0" i="0" u="none" strike="noStrike" kern="1200" cap="none" spc="0" normalizeH="0" baseline="0" noProof="0" dirty="0">
                <a:ln>
                  <a:noFill/>
                </a:ln>
                <a:solidFill>
                  <a:srgbClr val="0F172A"/>
                </a:solidFill>
                <a:effectLst/>
                <a:uLnTx/>
                <a:uFillTx/>
                <a:latin typeface="Calibri"/>
                <a:ea typeface="+mn-ea"/>
                <a:cs typeface="+mn-cs"/>
              </a:rPr>
              <a:t> — 40.1k unserved, 14.5k boardings (Tier 2 Priority)</a:t>
            </a:r>
          </a:p>
        </p:txBody>
      </p:sp>
      <p:sp>
        <p:nvSpPr>
          <p:cNvPr id="11" name="Rectangle 10"/>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850">
                <a:solidFill>
                  <a:srgbClr val="64748B"/>
                </a:solidFill>
                <a:latin typeface="Calibri"/>
              </a:defRPr>
            </a:pPr>
            <a:r>
              <a:rPr kumimoji="0" sz="850" b="0" i="0" u="none" strike="noStrike" kern="1200" cap="none" spc="0" normalizeH="0" baseline="0" noProof="0">
                <a:ln>
                  <a:noFill/>
                </a:ln>
                <a:solidFill>
                  <a:srgbClr val="64748B"/>
                </a:solidFill>
                <a:effectLst/>
                <a:uLnTx/>
                <a:uFillTx/>
                <a:latin typeface="Calibri"/>
                <a:ea typeface="+mn-ea"/>
                <a:cs typeface="+mn-cs"/>
              </a:rPr>
              <a:t>SHIFT 2026 Sustainable e-Micromobility Hackathon | IIT (BHU) Varanasi   |   Team UrbanFluX   |   Live Platform: https://bengaluru-metro-feeder.streamlit.app   |   Slide 5 of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0A7C5A"/>
                </a:solidFill>
                <a:effectLst/>
                <a:uLnTx/>
                <a:uFillTx/>
                <a:latin typeface="Arial" pitchFamily="34" charset="0"/>
                <a:ea typeface="Arial" pitchFamily="34" charset="-122"/>
                <a:cs typeface="Arial" pitchFamily="34" charset="-120"/>
              </a:rPr>
              <a:t>IMPLEMENTATION RESULTS · 1 · THE OPTIMISER</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13A"/>
                </a:solidFill>
                <a:latin typeface="Georgia" pitchFamily="18" charset="0"/>
                <a:ea typeface="Georgia" pitchFamily="18" charset="-122"/>
                <a:cs typeface="Georgia" pitchFamily="18" charset="-120"/>
              </a:rPr>
              <a:t>Hubs reach far fewer people than doorstep bikes</a:t>
            </a:r>
            <a:endParaRPr lang="en-US" sz="3200" dirty="0"/>
          </a:p>
        </p:txBody>
      </p:sp>
      <p:sp>
        <p:nvSpPr>
          <p:cNvPr id="4" name="Shape 2"/>
          <p:cNvSpPr/>
          <p:nvPr/>
        </p:nvSpPr>
        <p:spPr>
          <a:xfrm>
            <a:off x="812800" y="1828800"/>
            <a:ext cx="6604000" cy="3155950"/>
          </a:xfrm>
          <a:prstGeom prst="roundRect">
            <a:avLst>
              <a:gd name="adj" fmla="val 2414"/>
            </a:avLst>
          </a:prstGeom>
          <a:solidFill>
            <a:srgbClr val="FFFFFF"/>
          </a:solidFill>
          <a:ln/>
        </p:spPr>
      </p:sp>
      <p:pic>
        <p:nvPicPr>
          <p:cNvPr id="5" name="Image 0" descr="Map of the first five greedy hub picks in the Whitefield corridor, beside a curve of people reached as hubs are added from 1 to 15, flattening well below the 63,214 ceiling"/>
          <p:cNvPicPr>
            <a:picLocks noChangeAspect="1"/>
          </p:cNvPicPr>
          <p:nvPr/>
        </p:nvPicPr>
        <p:blipFill>
          <a:blip r:embed="rId3"/>
          <a:srcRect l="-41" r="-41"/>
          <a:stretch/>
        </p:blipFill>
        <p:spPr>
          <a:xfrm>
            <a:off x="819150" y="1835150"/>
            <a:ext cx="6591300" cy="3143250"/>
          </a:xfrm>
          <a:prstGeom prst="roundRect">
            <a:avLst>
              <a:gd name="adj" fmla="val 2222"/>
            </a:avLst>
          </a:prstGeom>
        </p:spPr>
      </p:pic>
      <p:sp>
        <p:nvSpPr>
          <p:cNvPr id="6" name="Shape 3"/>
          <p:cNvSpPr/>
          <p:nvPr/>
        </p:nvSpPr>
        <p:spPr>
          <a:xfrm>
            <a:off x="815975" y="1831975"/>
            <a:ext cx="6597650" cy="3149600"/>
          </a:xfrm>
          <a:prstGeom prst="roundRect">
            <a:avLst>
              <a:gd name="adj" fmla="val 2319"/>
            </a:avLst>
          </a:prstGeom>
          <a:noFill/>
          <a:ln w="6350">
            <a:solidFill>
              <a:srgbClr val="D9D4C7"/>
            </a:solidFill>
            <a:prstDash val="solid"/>
          </a:ln>
        </p:spPr>
      </p:sp>
      <p:sp>
        <p:nvSpPr>
          <p:cNvPr id="7" name="Text 4"/>
          <p:cNvSpPr/>
          <p:nvPr/>
        </p:nvSpPr>
        <p:spPr>
          <a:xfrm>
            <a:off x="7721600" y="1828800"/>
            <a:ext cx="376732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46505E"/>
                </a:solidFill>
                <a:effectLst/>
                <a:uLnTx/>
                <a:uFillTx/>
                <a:latin typeface="Georgia" pitchFamily="18" charset="0"/>
                <a:ea typeface="Georgia" pitchFamily="18" charset="-122"/>
                <a:cs typeface="Georgia" pitchFamily="18" charset="-120"/>
              </a:rPr>
              <a:t>69,215</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8" name="Text 5"/>
          <p:cNvSpPr/>
          <p:nvPr/>
        </p:nvSpPr>
        <p:spPr>
          <a:xfrm>
            <a:off x="7721600" y="2288542"/>
            <a:ext cx="376732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doorstep upper bound</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9" name="Text 6"/>
          <p:cNvSpPr/>
          <p:nvPr/>
        </p:nvSpPr>
        <p:spPr>
          <a:xfrm>
            <a:off x="7721600" y="2628900"/>
            <a:ext cx="376732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46505E"/>
                </a:solidFill>
                <a:effectLst/>
                <a:uLnTx/>
                <a:uFillTx/>
                <a:latin typeface="Georgia" pitchFamily="18" charset="0"/>
                <a:ea typeface="Georgia" pitchFamily="18" charset="-122"/>
                <a:cs typeface="Georgia" pitchFamily="18" charset="-120"/>
              </a:rPr>
              <a:t>63,214</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10" name="Text 7"/>
          <p:cNvSpPr/>
          <p:nvPr/>
        </p:nvSpPr>
        <p:spPr>
          <a:xfrm>
            <a:off x="7721600" y="3088642"/>
            <a:ext cx="376732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if all 881 candidate sites became hubs</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1" name="Text 8"/>
          <p:cNvSpPr/>
          <p:nvPr/>
        </p:nvSpPr>
        <p:spPr>
          <a:xfrm>
            <a:off x="7721600" y="3429000"/>
            <a:ext cx="376732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A7C5A"/>
                </a:solidFill>
                <a:effectLst/>
                <a:uLnTx/>
                <a:uFillTx/>
                <a:latin typeface="Georgia" pitchFamily="18" charset="0"/>
                <a:ea typeface="Georgia" pitchFamily="18" charset="-122"/>
                <a:cs typeface="Georgia" pitchFamily="18" charset="-120"/>
              </a:rPr>
              <a:t>24,502</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12" name="Text 9"/>
          <p:cNvSpPr/>
          <p:nvPr/>
        </p:nvSpPr>
        <p:spPr>
          <a:xfrm>
            <a:off x="7721600" y="3888742"/>
            <a:ext cx="376732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best 15 hubs</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3" name="Text 10"/>
          <p:cNvSpPr/>
          <p:nvPr/>
        </p:nvSpPr>
        <p:spPr>
          <a:xfrm>
            <a:off x="7721600" y="4229100"/>
            <a:ext cx="3767328" cy="4724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A7C5A"/>
                </a:solidFill>
                <a:effectLst/>
                <a:uLnTx/>
                <a:uFillTx/>
                <a:latin typeface="Georgia" pitchFamily="18" charset="0"/>
                <a:ea typeface="Georgia" pitchFamily="18" charset="-122"/>
                <a:cs typeface="Georgia" pitchFamily="18" charset="-120"/>
              </a:rPr>
              <a:t>10,616</a:t>
            </a:r>
            <a:endParaRPr kumimoji="0" lang="en-US" sz="3200" b="0" i="0" u="none" strike="noStrike" kern="1200" cap="none" spc="0" normalizeH="0" baseline="0" noProof="0" dirty="0">
              <a:ln>
                <a:noFill/>
              </a:ln>
              <a:solidFill>
                <a:srgbClr val="12213A"/>
              </a:solidFill>
              <a:effectLst/>
              <a:uLnTx/>
              <a:uFillTx/>
              <a:latin typeface="Arial"/>
              <a:ea typeface="+mn-ea"/>
              <a:cs typeface="+mn-cs"/>
            </a:endParaRPr>
          </a:p>
        </p:txBody>
      </p:sp>
      <p:sp>
        <p:nvSpPr>
          <p:cNvPr id="14" name="Text 11"/>
          <p:cNvSpPr/>
          <p:nvPr/>
        </p:nvSpPr>
        <p:spPr>
          <a:xfrm>
            <a:off x="7721600" y="4688842"/>
            <a:ext cx="3767328"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6505E"/>
                </a:solidFill>
                <a:effectLst/>
                <a:uLnTx/>
                <a:uFillTx/>
                <a:latin typeface="Arial" pitchFamily="34" charset="0"/>
                <a:ea typeface="Arial" pitchFamily="34" charset="-122"/>
                <a:cs typeface="Arial" pitchFamily="34" charset="-120"/>
              </a:rPr>
              <a:t>best 5 hubs</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
        <p:nvSpPr>
          <p:cNvPr id="15" name="Text 12"/>
          <p:cNvSpPr/>
          <p:nvPr/>
        </p:nvSpPr>
        <p:spPr>
          <a:xfrm>
            <a:off x="812800" y="5238750"/>
            <a:ext cx="10883392" cy="558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324,057 people beyond walking reach have </a:t>
            </a:r>
            <a:r>
              <a:rPr kumimoji="0" lang="en-US" sz="1500" b="1"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no candidate hub within a 5-minute walk</a:t>
            </a:r>
            <a:r>
              <a:rPr kumimoji="0" lang="en-US" sz="1500" b="0" i="0" u="none" strike="noStrike" kern="1200" cap="none" spc="0" normalizeH="0" baseline="0" noProof="0" dirty="0">
                <a:ln>
                  <a:noFill/>
                </a:ln>
                <a:solidFill>
                  <a:srgbClr val="12213A"/>
                </a:solidFill>
                <a:effectLst/>
                <a:uLnTx/>
                <a:uFillTx/>
                <a:latin typeface="Arial" pitchFamily="34" charset="0"/>
                <a:ea typeface="Arial" pitchFamily="34" charset="-122"/>
                <a:cs typeface="Arial" pitchFamily="34" charset="-120"/>
              </a:rPr>
              <a:t>. Reaching them likely needs dockless parking zones, not docks alone.</a:t>
            </a:r>
            <a:endParaRPr kumimoji="0" lang="en-US" sz="1500" b="0" i="0" u="none" strike="noStrike" kern="1200" cap="none" spc="0" normalizeH="0" baseline="0" noProof="0" dirty="0">
              <a:ln>
                <a:noFill/>
              </a:ln>
              <a:solidFill>
                <a:srgbClr val="12213A"/>
              </a:solidFill>
              <a:effectLst/>
              <a:uLnTx/>
              <a:uFillTx/>
              <a:latin typeface="Arial"/>
              <a:ea typeface="+mn-ea"/>
              <a:cs typeface="+mn-cs"/>
            </a:endParaRPr>
          </a:p>
        </p:txBody>
      </p:sp>
      <p:sp>
        <p:nvSpPr>
          <p:cNvPr id="16" name="Text 13"/>
          <p:cNvSpPr/>
          <p:nvPr/>
        </p:nvSpPr>
        <p:spPr>
          <a:xfrm>
            <a:off x="812800" y="6238242"/>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F6875"/>
                </a:solidFill>
                <a:effectLst/>
                <a:uLnTx/>
                <a:uFillTx/>
                <a:latin typeface="Arial" pitchFamily="34" charset="0"/>
                <a:ea typeface="Arial" pitchFamily="34" charset="-122"/>
                <a:cs typeface="Arial" pitchFamily="34" charset="-120"/>
              </a:rPr>
              <a:t>T = 15 min · hub covers a cell if walk ≤ 5 min and walk + 5 min unlock + ride ≤ T · greedy picks are nested, so k = 5 is the first 5 of k = 15 · 15</a:t>
            </a:r>
            <a:endParaRPr kumimoji="0" lang="en-US" sz="1200" b="0" i="0" u="none" strike="noStrike" kern="1200" cap="none" spc="0" normalizeH="0" baseline="0" noProof="0" dirty="0">
              <a:ln>
                <a:noFill/>
              </a:ln>
              <a:solidFill>
                <a:srgbClr val="12213A"/>
              </a:solidFill>
              <a:effectLst/>
              <a:uLnTx/>
              <a:uFillTx/>
              <a:latin typeface="Arial"/>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950" b="1">
                <a:solidFill>
                  <a:srgbClr val="2563EB"/>
                </a:solidFill>
                <a:latin typeface="Calibri"/>
              </a:defRPr>
            </a:pPr>
            <a:r>
              <a:rPr kumimoji="0" sz="950" b="1" i="0" u="none" strike="noStrike" kern="1200" cap="none" spc="0" normalizeH="0" baseline="0" noProof="0">
                <a:ln>
                  <a:noFill/>
                </a:ln>
                <a:solidFill>
                  <a:srgbClr val="2563EB"/>
                </a:solidFill>
                <a:effectLst/>
                <a:uLnTx/>
                <a:uFillTx/>
                <a:latin typeface="Calibri"/>
                <a:ea typeface="+mn-ea"/>
                <a:cs typeface="+mn-cs"/>
              </a:rPr>
              <a:t>COMPUTATIONAL SCALING - NAMMA METRO FULL NETWORK</a:t>
            </a:r>
          </a:p>
          <a:p>
            <a:pPr marL="0" marR="0" lvl="0" indent="0" algn="l" defTabSz="457200" rtl="0" eaLnBrk="1" fontAlgn="auto" latinLnBrk="0" hangingPunct="1">
              <a:lnSpc>
                <a:spcPct val="100000"/>
              </a:lnSpc>
              <a:spcBef>
                <a:spcPts val="0"/>
              </a:spcBef>
              <a:spcAft>
                <a:spcPts val="300"/>
              </a:spcAft>
              <a:buClrTx/>
              <a:buSzTx/>
              <a:buFontTx/>
              <a:buNone/>
              <a:tabLst/>
              <a:defRPr sz="2100" b="1">
                <a:solidFill>
                  <a:srgbClr val="0F172A"/>
                </a:solidFill>
                <a:latin typeface="Calibri"/>
              </a:defRPr>
            </a:pPr>
            <a:r>
              <a:rPr kumimoji="0" sz="2100" b="1" i="0" u="none" strike="noStrike" kern="1200" cap="none" spc="0" normalizeH="0" baseline="0" noProof="0">
                <a:ln>
                  <a:noFill/>
                </a:ln>
                <a:solidFill>
                  <a:srgbClr val="0F172A"/>
                </a:solidFill>
                <a:effectLst/>
                <a:uLnTx/>
                <a:uFillTx/>
                <a:latin typeface="Calibri"/>
                <a:ea typeface="+mn-ea"/>
                <a:cs typeface="+mn-cs"/>
              </a:rPr>
              <a:t>City-Wide Scaling: Complete 83-Station BMRCL Network Rollout</a:t>
            </a:r>
          </a:p>
          <a:p>
            <a:pPr marL="0" marR="0" lvl="0" indent="0" algn="l" defTabSz="457200" rtl="0" eaLnBrk="1" fontAlgn="auto" latinLnBrk="0" hangingPunct="1">
              <a:lnSpc>
                <a:spcPct val="100000"/>
              </a:lnSpc>
              <a:spcBef>
                <a:spcPts val="0"/>
              </a:spcBef>
              <a:spcAft>
                <a:spcPts val="0"/>
              </a:spcAft>
              <a:buClrTx/>
              <a:buSzTx/>
              <a:buFontTx/>
              <a:buNone/>
              <a:tabLst/>
              <a:defRPr sz="1100">
                <a:solidFill>
                  <a:srgbClr val="64748B"/>
                </a:solidFill>
                <a:latin typeface="Calibri"/>
              </a:defRPr>
            </a:pPr>
            <a:r>
              <a:rPr kumimoji="0" sz="1100" b="0" i="0" u="none" strike="noStrike" kern="1200" cap="none" spc="0" normalizeH="0" baseline="0" noProof="0">
                <a:ln>
                  <a:noFill/>
                </a:ln>
                <a:solidFill>
                  <a:srgbClr val="64748B"/>
                </a:solidFill>
                <a:effectLst/>
                <a:uLnTx/>
                <a:uFillTx/>
                <a:latin typeface="Calibri"/>
                <a:ea typeface="+mn-ea"/>
                <a:cs typeface="+mn-cs"/>
              </a:rPr>
              <a:t>Scaling the validated Whitefield pipeline across Bengaluru's Purple &amp; Green Metro Lines</a:t>
            </a:r>
          </a:p>
        </p:txBody>
      </p:sp>
      <p:sp>
        <p:nvSpPr>
          <p:cNvPr id="3" name="Rounded Rectangle 2"/>
          <p:cNvSpPr/>
          <p:nvPr/>
        </p:nvSpPr>
        <p:spPr>
          <a:xfrm>
            <a:off x="731520" y="155448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3" descr="fig01_access_map_T15_T20.png"/>
          <p:cNvPicPr>
            <a:picLocks noChangeAspect="1"/>
          </p:cNvPicPr>
          <p:nvPr/>
        </p:nvPicPr>
        <p:blipFill>
          <a:blip r:embed="rId3"/>
          <a:stretch>
            <a:fillRect/>
          </a:stretch>
        </p:blipFill>
        <p:spPr>
          <a:xfrm>
            <a:off x="822960" y="2365754"/>
            <a:ext cx="6035040" cy="3040891"/>
          </a:xfrm>
          <a:prstGeom prst="rect">
            <a:avLst/>
          </a:prstGeom>
        </p:spPr>
      </p:pic>
      <p:sp>
        <p:nvSpPr>
          <p:cNvPr id="5" name="Rounded Rectangle 4"/>
          <p:cNvSpPr/>
          <p:nvPr/>
        </p:nvSpPr>
        <p:spPr>
          <a:xfrm>
            <a:off x="7132320" y="155448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7132320" y="1554480"/>
            <a:ext cx="73152" cy="77724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296912" y="1645920"/>
            <a:ext cx="4099255" cy="5943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850" b="1">
                <a:solidFill>
                  <a:srgbClr val="64748B"/>
                </a:solidFill>
                <a:latin typeface="Calibri"/>
              </a:defRPr>
            </a:pPr>
            <a:r>
              <a:rPr kumimoji="0" sz="850" b="1" i="0" u="none" strike="noStrike" kern="1200" cap="none" spc="0" normalizeH="0" baseline="0" noProof="0">
                <a:ln>
                  <a:noFill/>
                </a:ln>
                <a:solidFill>
                  <a:srgbClr val="64748B"/>
                </a:solidFill>
                <a:effectLst/>
                <a:uLnTx/>
                <a:uFillTx/>
                <a:latin typeface="Calibri"/>
                <a:ea typeface="+mn-ea"/>
                <a:cs typeface="+mn-cs"/>
              </a:rPr>
              <a:t>CITY BUFFER POP (3 KM)</a:t>
            </a:r>
          </a:p>
          <a:p>
            <a:pPr marL="0" marR="0" lvl="0" indent="0" algn="l" defTabSz="457200" rtl="0" eaLnBrk="1" fontAlgn="auto" latinLnBrk="0" hangingPunct="1">
              <a:lnSpc>
                <a:spcPct val="100000"/>
              </a:lnSpc>
              <a:spcBef>
                <a:spcPts val="0"/>
              </a:spcBef>
              <a:spcAft>
                <a:spcPts val="200"/>
              </a:spcAft>
              <a:buClrTx/>
              <a:buSzTx/>
              <a:buFontTx/>
              <a:buNone/>
              <a:tabLst/>
              <a:defRPr sz="2000" b="1">
                <a:solidFill>
                  <a:srgbClr val="0F172A"/>
                </a:solidFill>
                <a:latin typeface="Calibri"/>
              </a:defRPr>
            </a:pPr>
            <a:r>
              <a:rPr kumimoji="0" sz="2000" b="1" i="0" u="none" strike="noStrike" kern="1200" cap="none" spc="0" normalizeH="0" baseline="0" noProof="0">
                <a:ln>
                  <a:noFill/>
                </a:ln>
                <a:solidFill>
                  <a:srgbClr val="0F172A"/>
                </a:solidFill>
                <a:effectLst/>
                <a:uLnTx/>
                <a:uFillTx/>
                <a:latin typeface="Calibri"/>
                <a:ea typeface="+mn-ea"/>
                <a:cs typeface="+mn-cs"/>
              </a:rPr>
              <a:t>4,286,735</a:t>
            </a:r>
          </a:p>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7C3AED"/>
                </a:solidFill>
                <a:latin typeface="Calibri"/>
              </a:defRPr>
            </a:pPr>
            <a:r>
              <a:rPr kumimoji="0" sz="900" b="1" i="0" u="none" strike="noStrike" kern="1200" cap="none" spc="0" normalizeH="0" baseline="0" noProof="0">
                <a:ln>
                  <a:noFill/>
                </a:ln>
                <a:solidFill>
                  <a:srgbClr val="7C3AED"/>
                </a:solidFill>
                <a:effectLst/>
                <a:uLnTx/>
                <a:uFillTx/>
                <a:latin typeface="Calibri"/>
                <a:ea typeface="+mn-ea"/>
                <a:cs typeface="+mn-cs"/>
              </a:rPr>
              <a:t>5,726 H3 hexagons | 704k daily riders</a:t>
            </a:r>
          </a:p>
        </p:txBody>
      </p:sp>
      <p:sp>
        <p:nvSpPr>
          <p:cNvPr id="8" name="Rounded Rectangle 7"/>
          <p:cNvSpPr/>
          <p:nvPr/>
        </p:nvSpPr>
        <p:spPr>
          <a:xfrm>
            <a:off x="7132320" y="242316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7132320" y="2423160"/>
            <a:ext cx="73152" cy="77724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7296912" y="2514600"/>
            <a:ext cx="4099255" cy="5943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850" b="1">
                <a:solidFill>
                  <a:srgbClr val="64748B"/>
                </a:solidFill>
                <a:latin typeface="Calibri"/>
              </a:defRPr>
            </a:pPr>
            <a:r>
              <a:rPr kumimoji="0" sz="850" b="1" i="0" u="none" strike="noStrike" kern="1200" cap="none" spc="0" normalizeH="0" baseline="0" noProof="0">
                <a:ln>
                  <a:noFill/>
                </a:ln>
                <a:solidFill>
                  <a:srgbClr val="64748B"/>
                </a:solidFill>
                <a:effectLst/>
                <a:uLnTx/>
                <a:uFillTx/>
                <a:latin typeface="Calibri"/>
                <a:ea typeface="+mn-ea"/>
                <a:cs typeface="+mn-cs"/>
              </a:rPr>
              <a:t>15-MIN PEDESTRIAN DEFICIT</a:t>
            </a:r>
          </a:p>
          <a:p>
            <a:pPr marL="0" marR="0" lvl="0" indent="0" algn="l" defTabSz="457200" rtl="0" eaLnBrk="1" fontAlgn="auto" latinLnBrk="0" hangingPunct="1">
              <a:lnSpc>
                <a:spcPct val="100000"/>
              </a:lnSpc>
              <a:spcBef>
                <a:spcPts val="0"/>
              </a:spcBef>
              <a:spcAft>
                <a:spcPts val="200"/>
              </a:spcAft>
              <a:buClrTx/>
              <a:buSzTx/>
              <a:buFontTx/>
              <a:buNone/>
              <a:tabLst/>
              <a:defRPr sz="2000" b="1">
                <a:solidFill>
                  <a:srgbClr val="0F172A"/>
                </a:solidFill>
                <a:latin typeface="Calibri"/>
              </a:defRPr>
            </a:pPr>
            <a:r>
              <a:rPr kumimoji="0" sz="2000" b="1" i="0" u="none" strike="noStrike" kern="1200" cap="none" spc="0" normalizeH="0" baseline="0" noProof="0">
                <a:ln>
                  <a:noFill/>
                </a:ln>
                <a:solidFill>
                  <a:srgbClr val="0F172A"/>
                </a:solidFill>
                <a:effectLst/>
                <a:uLnTx/>
                <a:uFillTx/>
                <a:latin typeface="Calibri"/>
                <a:ea typeface="+mn-ea"/>
                <a:cs typeface="+mn-cs"/>
              </a:rPr>
              <a:t>3,328,763 (77.7%)</a:t>
            </a:r>
          </a:p>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DC2626"/>
                </a:solidFill>
                <a:latin typeface="Calibri"/>
              </a:defRPr>
            </a:pPr>
            <a:r>
              <a:rPr kumimoji="0" sz="900" b="1" i="0" u="none" strike="noStrike" kern="1200" cap="none" spc="0" normalizeH="0" baseline="0" noProof="0">
                <a:ln>
                  <a:noFill/>
                </a:ln>
                <a:solidFill>
                  <a:srgbClr val="DC2626"/>
                </a:solidFill>
                <a:effectLst/>
                <a:uLnTx/>
                <a:uFillTx/>
                <a:latin typeface="Calibri"/>
                <a:ea typeface="+mn-ea"/>
                <a:cs typeface="+mn-cs"/>
              </a:rPr>
              <a:t>Stranded beyond 15m walk (walk reaches 22.3%)</a:t>
            </a:r>
          </a:p>
        </p:txBody>
      </p:sp>
      <p:sp>
        <p:nvSpPr>
          <p:cNvPr id="11" name="Rounded Rectangle 10"/>
          <p:cNvSpPr/>
          <p:nvPr/>
        </p:nvSpPr>
        <p:spPr>
          <a:xfrm>
            <a:off x="7132320" y="3291840"/>
            <a:ext cx="43278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7132320" y="3291840"/>
            <a:ext cx="73152" cy="7772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7296912" y="3383280"/>
            <a:ext cx="4099255" cy="5943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850" b="1">
                <a:solidFill>
                  <a:srgbClr val="64748B"/>
                </a:solidFill>
                <a:latin typeface="Calibri"/>
              </a:defRPr>
            </a:pPr>
            <a:r>
              <a:rPr kumimoji="0" sz="850" b="1" i="0" u="none" strike="noStrike" kern="1200" cap="none" spc="0" normalizeH="0" baseline="0" noProof="0">
                <a:ln>
                  <a:noFill/>
                </a:ln>
                <a:solidFill>
                  <a:srgbClr val="64748B"/>
                </a:solidFill>
                <a:effectLst/>
                <a:uLnTx/>
                <a:uFillTx/>
                <a:latin typeface="Calibri"/>
                <a:ea typeface="+mn-ea"/>
                <a:cs typeface="+mn-cs"/>
              </a:rPr>
              <a:t>CITY E-BIKE UPLIFT (T=15M)</a:t>
            </a:r>
          </a:p>
          <a:p>
            <a:pPr marL="0" marR="0" lvl="0" indent="0" algn="l" defTabSz="457200" rtl="0" eaLnBrk="1" fontAlgn="auto" latinLnBrk="0" hangingPunct="1">
              <a:lnSpc>
                <a:spcPct val="100000"/>
              </a:lnSpc>
              <a:spcBef>
                <a:spcPts val="0"/>
              </a:spcBef>
              <a:spcAft>
                <a:spcPts val="200"/>
              </a:spcAft>
              <a:buClrTx/>
              <a:buSzTx/>
              <a:buFontTx/>
              <a:buNone/>
              <a:tabLst/>
              <a:defRPr sz="2000" b="1">
                <a:solidFill>
                  <a:srgbClr val="0F172A"/>
                </a:solidFill>
                <a:latin typeface="Calibri"/>
              </a:defRPr>
            </a:pPr>
            <a:r>
              <a:rPr kumimoji="0" sz="2000" b="1" i="0" u="none" strike="noStrike" kern="1200" cap="none" spc="0" normalizeH="0" baseline="0" noProof="0">
                <a:ln>
                  <a:noFill/>
                </a:ln>
                <a:solidFill>
                  <a:srgbClr val="0F172A"/>
                </a:solidFill>
                <a:effectLst/>
                <a:uLnTx/>
                <a:uFillTx/>
                <a:latin typeface="Calibri"/>
                <a:ea typeface="+mn-ea"/>
                <a:cs typeface="+mn-cs"/>
              </a:rPr>
              <a:t>+898,233 (+21.0%)</a:t>
            </a:r>
          </a:p>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0284C7"/>
                </a:solidFill>
                <a:latin typeface="Calibri"/>
              </a:defRPr>
            </a:pPr>
            <a:r>
              <a:rPr kumimoji="0" sz="900" b="1" i="0" u="none" strike="noStrike" kern="1200" cap="none" spc="0" normalizeH="0" baseline="0" noProof="0">
                <a:ln>
                  <a:noFill/>
                </a:ln>
                <a:solidFill>
                  <a:srgbClr val="0284C7"/>
                </a:solidFill>
                <a:effectLst/>
                <a:uLnTx/>
                <a:uFillTx/>
                <a:latin typeface="Calibri"/>
                <a:ea typeface="+mn-ea"/>
                <a:cs typeface="+mn-cs"/>
              </a:rPr>
              <a:t>Surges to +1,491,128 (+34.8%) at T=20m!</a:t>
            </a:r>
          </a:p>
        </p:txBody>
      </p:sp>
      <p:sp>
        <p:nvSpPr>
          <p:cNvPr id="14" name="Rounded Rectangle 13"/>
          <p:cNvSpPr/>
          <p:nvPr/>
        </p:nvSpPr>
        <p:spPr>
          <a:xfrm>
            <a:off x="7132320" y="4160520"/>
            <a:ext cx="4327855"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7315200" y="4251960"/>
            <a:ext cx="3962095" cy="187451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1150" b="1">
                <a:solidFill>
                  <a:srgbClr val="0F172A"/>
                </a:solidFill>
              </a:defRPr>
            </a:pPr>
            <a:r>
              <a:rPr kumimoji="0" sz="1150" b="1" i="0" u="none" strike="noStrike" kern="1200" cap="none" spc="0" normalizeH="0" baseline="0" noProof="0">
                <a:ln>
                  <a:noFill/>
                </a:ln>
                <a:solidFill>
                  <a:srgbClr val="0F172A"/>
                </a:solidFill>
                <a:effectLst/>
                <a:uLnTx/>
                <a:uFillTx/>
                <a:latin typeface="Calibri"/>
                <a:ea typeface="+mn-ea"/>
                <a:cs typeface="+mn-cs"/>
              </a:rPr>
              <a:t>🏆 Top 5 City-Wide Priority Stations</a:t>
            </a:r>
          </a:p>
          <a:p>
            <a:pPr marL="0" marR="0" lvl="0" indent="0" algn="l" defTabSz="457200" rtl="0" eaLnBrk="1" fontAlgn="auto" latinLnBrk="0" hangingPunct="1">
              <a:lnSpc>
                <a:spcPct val="100000"/>
              </a:lnSpc>
              <a:spcBef>
                <a:spcPts val="0"/>
              </a:spcBef>
              <a:spcAft>
                <a:spcPts val="0"/>
              </a:spcAft>
              <a:buClrTx/>
              <a:buSzTx/>
              <a:buFontTx/>
              <a:buNone/>
              <a:tabLst/>
              <a:defRPr sz="880">
                <a:solidFill>
                  <a:srgbClr val="64748B"/>
                </a:solidFill>
              </a:defRPr>
            </a:pPr>
            <a:r>
              <a:rPr kumimoji="0" sz="880" b="0" i="0" u="none" strike="noStrike" kern="1200" cap="none" spc="0" normalizeH="0" baseline="0" noProof="0">
                <a:ln>
                  <a:noFill/>
                </a:ln>
                <a:solidFill>
                  <a:srgbClr val="64748B"/>
                </a:solidFill>
                <a:effectLst/>
                <a:uLnTx/>
                <a:uFillTx/>
                <a:latin typeface="Calibri"/>
                <a:ea typeface="+mn-ea"/>
                <a:cs typeface="+mn-cs"/>
              </a:rPr>
              <a:t>1. Benniganahalli: 108.9k unserved, 25.8k riders (Score: 17.5M)</a:t>
            </a:r>
            <a:br>
              <a:rPr kumimoji="0" sz="880" b="0" i="0" u="none" strike="noStrike" kern="1200" cap="none" spc="0" normalizeH="0" baseline="0" noProof="0">
                <a:ln>
                  <a:noFill/>
                </a:ln>
                <a:solidFill>
                  <a:srgbClr val="64748B"/>
                </a:solidFill>
                <a:effectLst/>
                <a:uLnTx/>
                <a:uFillTx/>
                <a:latin typeface="Calibri"/>
                <a:ea typeface="+mn-ea"/>
                <a:cs typeface="+mn-cs"/>
              </a:rPr>
            </a:br>
            <a:r>
              <a:rPr kumimoji="0" sz="880" b="0" i="0" u="none" strike="noStrike" kern="1200" cap="none" spc="0" normalizeH="0" baseline="0" noProof="0">
                <a:ln>
                  <a:noFill/>
                </a:ln>
                <a:solidFill>
                  <a:srgbClr val="64748B"/>
                </a:solidFill>
                <a:effectLst/>
                <a:uLnTx/>
                <a:uFillTx/>
                <a:latin typeface="Calibri"/>
                <a:ea typeface="+mn-ea"/>
                <a:cs typeface="+mn-cs"/>
              </a:rPr>
              <a:t>2. Krishnarajapura: 136.8k unserved, 18.4k riders (Score: 18.5M)</a:t>
            </a:r>
            <a:br>
              <a:rPr kumimoji="0" sz="880" b="0" i="0" u="none" strike="noStrike" kern="1200" cap="none" spc="0" normalizeH="0" baseline="0" noProof="0">
                <a:ln>
                  <a:noFill/>
                </a:ln>
                <a:solidFill>
                  <a:srgbClr val="64748B"/>
                </a:solidFill>
                <a:effectLst/>
                <a:uLnTx/>
                <a:uFillTx/>
                <a:latin typeface="Calibri"/>
                <a:ea typeface="+mn-ea"/>
                <a:cs typeface="+mn-cs"/>
              </a:rPr>
            </a:br>
            <a:r>
              <a:rPr kumimoji="0" sz="880" b="0" i="0" u="none" strike="noStrike" kern="1200" cap="none" spc="0" normalizeH="0" baseline="0" noProof="0">
                <a:ln>
                  <a:noFill/>
                </a:ln>
                <a:solidFill>
                  <a:srgbClr val="64748B"/>
                </a:solidFill>
                <a:effectLst/>
                <a:uLnTx/>
                <a:uFillTx/>
                <a:latin typeface="Calibri"/>
                <a:ea typeface="+mn-ea"/>
                <a:cs typeface="+mn-cs"/>
              </a:rPr>
              <a:t>3. MG Road: 59.2k unserved, 20.9k riders (Score: 8.5M)</a:t>
            </a:r>
            <a:br>
              <a:rPr kumimoji="0" sz="880" b="0" i="0" u="none" strike="noStrike" kern="1200" cap="none" spc="0" normalizeH="0" baseline="0" noProof="0">
                <a:ln>
                  <a:noFill/>
                </a:ln>
                <a:solidFill>
                  <a:srgbClr val="64748B"/>
                </a:solidFill>
                <a:effectLst/>
                <a:uLnTx/>
                <a:uFillTx/>
                <a:latin typeface="Calibri"/>
                <a:ea typeface="+mn-ea"/>
                <a:cs typeface="+mn-cs"/>
              </a:rPr>
            </a:br>
            <a:r>
              <a:rPr kumimoji="0" sz="880" b="0" i="0" u="none" strike="noStrike" kern="1200" cap="none" spc="0" normalizeH="0" baseline="0" noProof="0">
                <a:ln>
                  <a:noFill/>
                </a:ln>
                <a:solidFill>
                  <a:srgbClr val="64748B"/>
                </a:solidFill>
                <a:effectLst/>
                <a:uLnTx/>
                <a:uFillTx/>
                <a:latin typeface="Calibri"/>
                <a:ea typeface="+mn-ea"/>
                <a:cs typeface="+mn-cs"/>
              </a:rPr>
              <a:t>4. Indiranagar: 57.9k unserved, 21.2k riders (Score: 8.4M)</a:t>
            </a:r>
            <a:br>
              <a:rPr kumimoji="0" sz="880" b="0" i="0" u="none" strike="noStrike" kern="1200" cap="none" spc="0" normalizeH="0" baseline="0" noProof="0">
                <a:ln>
                  <a:noFill/>
                </a:ln>
                <a:solidFill>
                  <a:srgbClr val="64748B"/>
                </a:solidFill>
                <a:effectLst/>
                <a:uLnTx/>
                <a:uFillTx/>
                <a:latin typeface="Calibri"/>
                <a:ea typeface="+mn-ea"/>
                <a:cs typeface="+mn-cs"/>
              </a:rPr>
            </a:br>
            <a:r>
              <a:rPr kumimoji="0" sz="880" b="0" i="0" u="none" strike="noStrike" kern="1200" cap="none" spc="0" normalizeH="0" baseline="0" noProof="0">
                <a:ln>
                  <a:noFill/>
                </a:ln>
                <a:solidFill>
                  <a:srgbClr val="64748B"/>
                </a:solidFill>
                <a:effectLst/>
                <a:uLnTx/>
                <a:uFillTx/>
                <a:latin typeface="Calibri"/>
                <a:ea typeface="+mn-ea"/>
                <a:cs typeface="+mn-cs"/>
              </a:rPr>
              <a:t>5. Konanakunte Cross: 79.7k unserved, 12.6k riders (Score: 8.9M)</a:t>
            </a:r>
            <a:br>
              <a:rPr kumimoji="0" sz="880" b="0" i="0" u="none" strike="noStrike" kern="1200" cap="none" spc="0" normalizeH="0" baseline="0" noProof="0">
                <a:ln>
                  <a:noFill/>
                </a:ln>
                <a:solidFill>
                  <a:srgbClr val="64748B"/>
                </a:solidFill>
                <a:effectLst/>
                <a:uLnTx/>
                <a:uFillTx/>
                <a:latin typeface="Calibri"/>
                <a:ea typeface="+mn-ea"/>
                <a:cs typeface="+mn-cs"/>
              </a:rPr>
            </a:br>
            <a:r>
              <a:rPr kumimoji="0" sz="880" b="0" i="0" u="none" strike="noStrike" kern="1200" cap="none" spc="0" normalizeH="0" baseline="0" noProof="0">
                <a:ln>
                  <a:noFill/>
                </a:ln>
                <a:solidFill>
                  <a:srgbClr val="64748B"/>
                </a:solidFill>
                <a:effectLst/>
                <a:uLnTx/>
                <a:uFillTx/>
                <a:latin typeface="Calibri"/>
                <a:ea typeface="+mn-ea"/>
                <a:cs typeface="+mn-cs"/>
              </a:rPr>
              <a:t>→ Eastern Arc (KR Puram/Benniganahalli) exhibits maximum immediate ROI.</a:t>
            </a:r>
          </a:p>
        </p:txBody>
      </p:sp>
      <p:sp>
        <p:nvSpPr>
          <p:cNvPr id="16" name="Rectangle 1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731520" y="6446520"/>
            <a:ext cx="10728655" cy="3200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850">
                <a:solidFill>
                  <a:srgbClr val="64748B"/>
                </a:solidFill>
                <a:latin typeface="Calibri"/>
              </a:defRPr>
            </a:pPr>
            <a:r>
              <a:rPr kumimoji="0" sz="850" b="0" i="0" u="none" strike="noStrike" kern="1200" cap="none" spc="0" normalizeH="0" baseline="0" noProof="0">
                <a:ln>
                  <a:noFill/>
                </a:ln>
                <a:solidFill>
                  <a:srgbClr val="64748B"/>
                </a:solidFill>
                <a:effectLst/>
                <a:uLnTx/>
                <a:uFillTx/>
                <a:latin typeface="Calibri"/>
                <a:ea typeface="+mn-ea"/>
                <a:cs typeface="+mn-cs"/>
              </a:rPr>
              <a:t>SHIFT 2026 Sustainable e-Micromobility Hackathon | IIT (BHU) Varanasi   |   Team UrbanFluX   |   Live Platform: https://bengaluru-metro-feeder.streamlit.app   |   Slide 8 of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D6AAA7-0FA7-CB49-4F21-3C71AFC7F5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6489" y="294967"/>
            <a:ext cx="6213218" cy="6015153"/>
          </a:xfrm>
          <a:prstGeom prst="rect">
            <a:avLst/>
          </a:prstGeom>
        </p:spPr>
      </p:pic>
      <p:pic>
        <p:nvPicPr>
          <p:cNvPr id="5" name="Picture 4">
            <a:extLst>
              <a:ext uri="{FF2B5EF4-FFF2-40B4-BE49-F238E27FC236}">
                <a16:creationId xmlns:a16="http://schemas.microsoft.com/office/drawing/2014/main" id="{FC5395FA-F651-F01F-7632-78EAB4D2F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118" y="294967"/>
            <a:ext cx="5927882" cy="6015153"/>
          </a:xfrm>
          <a:prstGeom prst="rect">
            <a:avLst/>
          </a:prstGeom>
        </p:spPr>
      </p:pic>
    </p:spTree>
    <p:extLst>
      <p:ext uri="{BB962C8B-B14F-4D97-AF65-F5344CB8AC3E}">
        <p14:creationId xmlns:p14="http://schemas.microsoft.com/office/powerpoint/2010/main" val="1551082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D"/>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515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950" b="1">
                <a:solidFill>
                  <a:srgbClr val="0284C7"/>
                </a:solidFill>
                <a:latin typeface="Calibri"/>
              </a:defRPr>
            </a:pPr>
            <a:r>
              <a:rPr kumimoji="0" sz="950" b="1" i="0" u="none" strike="noStrike" kern="1200" cap="none" spc="0" normalizeH="0" baseline="0" noProof="0">
                <a:ln>
                  <a:noFill/>
                </a:ln>
                <a:solidFill>
                  <a:srgbClr val="0284C7"/>
                </a:solidFill>
                <a:effectLst/>
                <a:uLnTx/>
                <a:uFillTx/>
                <a:latin typeface="Calibri"/>
                <a:ea typeface="+mn-ea"/>
                <a:cs typeface="+mn-cs"/>
              </a:rPr>
              <a:t>POLICY ROADMAP &amp; IMPLEMENTATION BLUEPRINT</a:t>
            </a:r>
          </a:p>
          <a:p>
            <a:pPr marL="0" marR="0" lvl="0" indent="0" algn="l" defTabSz="457200" rtl="0" eaLnBrk="1" fontAlgn="auto" latinLnBrk="0" hangingPunct="1">
              <a:lnSpc>
                <a:spcPct val="100000"/>
              </a:lnSpc>
              <a:spcBef>
                <a:spcPts val="0"/>
              </a:spcBef>
              <a:spcAft>
                <a:spcPts val="300"/>
              </a:spcAft>
              <a:buClrTx/>
              <a:buSzTx/>
              <a:buFontTx/>
              <a:buNone/>
              <a:tabLst/>
              <a:defRPr sz="2100" b="1">
                <a:solidFill>
                  <a:srgbClr val="F1F5F9"/>
                </a:solidFill>
                <a:latin typeface="Calibri"/>
              </a:defRPr>
            </a:pPr>
            <a:r>
              <a:rPr kumimoji="0" sz="2100" b="1" i="0" u="none" strike="noStrike" kern="1200" cap="none" spc="0" normalizeH="0" baseline="0" noProof="0">
                <a:ln>
                  <a:noFill/>
                </a:ln>
                <a:solidFill>
                  <a:srgbClr val="F1F5F9"/>
                </a:solidFill>
                <a:effectLst/>
                <a:uLnTx/>
                <a:uFillTx/>
                <a:latin typeface="Calibri"/>
                <a:ea typeface="+mn-ea"/>
                <a:cs typeface="+mn-cs"/>
              </a:rPr>
              <a:t>From Model to Pavement: Capital Allocation Roadmap</a:t>
            </a:r>
          </a:p>
          <a:p>
            <a:pPr marL="0" marR="0" lvl="0" indent="0" algn="l" defTabSz="457200" rtl="0" eaLnBrk="1" fontAlgn="auto" latinLnBrk="0" hangingPunct="1">
              <a:lnSpc>
                <a:spcPct val="100000"/>
              </a:lnSpc>
              <a:spcBef>
                <a:spcPts val="0"/>
              </a:spcBef>
              <a:spcAft>
                <a:spcPts val="0"/>
              </a:spcAft>
              <a:buClrTx/>
              <a:buSzTx/>
              <a:buFontTx/>
              <a:buNone/>
              <a:tabLst/>
              <a:defRPr sz="1100">
                <a:solidFill>
                  <a:srgbClr val="94A3B8"/>
                </a:solidFill>
                <a:latin typeface="Calibri"/>
              </a:defRPr>
            </a:pPr>
            <a:r>
              <a:rPr kumimoji="0" sz="1100" b="0" i="0" u="none" strike="noStrike" kern="1200" cap="none" spc="0" normalizeH="0" baseline="0" noProof="0">
                <a:ln>
                  <a:noFill/>
                </a:ln>
                <a:solidFill>
                  <a:srgbClr val="94A3B8"/>
                </a:solidFill>
                <a:effectLst/>
                <a:uLnTx/>
                <a:uFillTx/>
                <a:latin typeface="Calibri"/>
                <a:ea typeface="+mn-ea"/>
                <a:cs typeface="+mn-cs"/>
              </a:rPr>
              <a:t>A 3-phase execution strategy to transform Bengaluru's first-and-last-mile connectivity</a:t>
            </a:r>
          </a:p>
        </p:txBody>
      </p:sp>
      <p:sp>
        <p:nvSpPr>
          <p:cNvPr id="3" name="Rounded Rectangle 2"/>
          <p:cNvSpPr/>
          <p:nvPr/>
        </p:nvSpPr>
        <p:spPr>
          <a:xfrm>
            <a:off x="731520"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868680" y="1691640"/>
            <a:ext cx="3154680" cy="31089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1000" b="1">
                <a:solidFill>
                  <a:srgbClr val="059669"/>
                </a:solidFill>
              </a:defRPr>
            </a:pPr>
            <a:r>
              <a:rPr kumimoji="0" sz="1000" b="1" i="0" u="none" strike="noStrike" kern="1200" cap="none" spc="0" normalizeH="0" baseline="0" noProof="0">
                <a:ln>
                  <a:noFill/>
                </a:ln>
                <a:solidFill>
                  <a:srgbClr val="059669"/>
                </a:solidFill>
                <a:effectLst/>
                <a:uLnTx/>
                <a:uFillTx/>
                <a:latin typeface="Calibri"/>
                <a:ea typeface="+mn-ea"/>
                <a:cs typeface="+mn-cs"/>
              </a:rPr>
              <a:t>PHASE 1: MONTHS 1–3</a:t>
            </a:r>
          </a:p>
          <a:p>
            <a:pPr marL="0" marR="0" lvl="0" indent="0" algn="l" defTabSz="457200" rtl="0" eaLnBrk="1" fontAlgn="auto" latinLnBrk="0" hangingPunct="1">
              <a:lnSpc>
                <a:spcPct val="100000"/>
              </a:lnSpc>
              <a:spcBef>
                <a:spcPts val="0"/>
              </a:spcBef>
              <a:spcAft>
                <a:spcPts val="400"/>
              </a:spcAft>
              <a:buClrTx/>
              <a:buSzTx/>
              <a:buFontTx/>
              <a:buNone/>
              <a:tabLst/>
              <a:defRPr sz="1300" b="1">
                <a:solidFill>
                  <a:srgbClr val="FFFFFF"/>
                </a:solidFill>
              </a:defRPr>
            </a:pPr>
            <a:r>
              <a:rPr kumimoji="0" sz="1300" b="1" i="0" u="none" strike="noStrike" kern="1200" cap="none" spc="0" normalizeH="0" baseline="0" noProof="0">
                <a:ln>
                  <a:noFill/>
                </a:ln>
                <a:solidFill>
                  <a:srgbClr val="FFFFFF"/>
                </a:solidFill>
                <a:effectLst/>
                <a:uLnTx/>
                <a:uFillTx/>
                <a:latin typeface="Calibri"/>
                <a:ea typeface="+mn-ea"/>
                <a:cs typeface="+mn-cs"/>
              </a:rPr>
              <a:t>Immediate Tactical Actions</a:t>
            </a:r>
          </a:p>
          <a:p>
            <a:pPr marL="0" marR="0" lvl="0" indent="0" algn="l" defTabSz="457200" rtl="0" eaLnBrk="1" fontAlgn="auto" latinLnBrk="0" hangingPunct="1">
              <a:lnSpc>
                <a:spcPct val="100000"/>
              </a:lnSpc>
              <a:spcBef>
                <a:spcPts val="0"/>
              </a:spcBef>
              <a:spcAft>
                <a:spcPts val="0"/>
              </a:spcAft>
              <a:buClrTx/>
              <a:buSzTx/>
              <a:buFontTx/>
              <a:buNone/>
              <a:tabLst/>
              <a:defRPr sz="880">
                <a:solidFill>
                  <a:srgbClr val="94A3B8"/>
                </a:solidFill>
              </a:defRPr>
            </a:pPr>
            <a:r>
              <a:rPr kumimoji="0" sz="880" b="0" i="0" u="none" strike="noStrike" kern="1200" cap="none" spc="0" normalizeH="0" baseline="0" noProof="0">
                <a:ln>
                  <a:noFill/>
                </a:ln>
                <a:solidFill>
                  <a:srgbClr val="94A3B8"/>
                </a:solidFill>
                <a:effectLst/>
                <a:uLnTx/>
                <a:uFillTx/>
                <a:latin typeface="Calibri"/>
                <a:ea typeface="+mn-ea"/>
                <a:cs typeface="+mn-cs"/>
              </a:rPr>
              <a:t>• Civil Retrofits (&lt; ₹1.2 Cr):</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Install bicycle wheeling ramps on 12 railway/arterial footbridges (KR Puram, Kadugodi, Yeshwanthpur).</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High-Yield Virtual Hubs: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Geofence preferred parking zones at Top 10 priority stations.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Road Safety Markings: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Paint high-visibility feeder bays and curb-cuts.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Rapid Win: Reconnects 42 severed cells within 90 days.</a:t>
            </a:r>
          </a:p>
        </p:txBody>
      </p:sp>
      <p:sp>
        <p:nvSpPr>
          <p:cNvPr id="5" name="Rounded Rectangle 4"/>
          <p:cNvSpPr/>
          <p:nvPr/>
        </p:nvSpPr>
        <p:spPr>
          <a:xfrm>
            <a:off x="4379976"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517136" y="1691640"/>
            <a:ext cx="3154680" cy="31089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1000" b="1">
                <a:solidFill>
                  <a:srgbClr val="0284C7"/>
                </a:solidFill>
              </a:defRPr>
            </a:pPr>
            <a:r>
              <a:rPr kumimoji="0" sz="1000" b="1" i="0" u="none" strike="noStrike" kern="1200" cap="none" spc="0" normalizeH="0" baseline="0" noProof="0">
                <a:ln>
                  <a:noFill/>
                </a:ln>
                <a:solidFill>
                  <a:srgbClr val="0284C7"/>
                </a:solidFill>
                <a:effectLst/>
                <a:uLnTx/>
                <a:uFillTx/>
                <a:latin typeface="Calibri"/>
                <a:ea typeface="+mn-ea"/>
                <a:cs typeface="+mn-cs"/>
              </a:rPr>
              <a:t>PHASE 2: MONTHS 4–9</a:t>
            </a:r>
          </a:p>
          <a:p>
            <a:pPr marL="0" marR="0" lvl="0" indent="0" algn="l" defTabSz="457200" rtl="0" eaLnBrk="1" fontAlgn="auto" latinLnBrk="0" hangingPunct="1">
              <a:lnSpc>
                <a:spcPct val="100000"/>
              </a:lnSpc>
              <a:spcBef>
                <a:spcPts val="0"/>
              </a:spcBef>
              <a:spcAft>
                <a:spcPts val="400"/>
              </a:spcAft>
              <a:buClrTx/>
              <a:buSzTx/>
              <a:buFontTx/>
              <a:buNone/>
              <a:tabLst/>
              <a:defRPr sz="1300" b="1">
                <a:solidFill>
                  <a:srgbClr val="FFFFFF"/>
                </a:solidFill>
              </a:defRPr>
            </a:pPr>
            <a:r>
              <a:rPr kumimoji="0" sz="1300" b="1" i="0" u="none" strike="noStrike" kern="1200" cap="none" spc="0" normalizeH="0" baseline="0" noProof="0">
                <a:ln>
                  <a:noFill/>
                </a:ln>
                <a:solidFill>
                  <a:srgbClr val="FFFFFF"/>
                </a:solidFill>
                <a:effectLst/>
                <a:uLnTx/>
                <a:uFillTx/>
                <a:latin typeface="Calibri"/>
                <a:ea typeface="+mn-ea"/>
                <a:cs typeface="+mn-cs"/>
              </a:rPr>
              <a:t>Submodular Dock Rollout</a:t>
            </a:r>
          </a:p>
          <a:p>
            <a:pPr marL="0" marR="0" lvl="0" indent="0" algn="l" defTabSz="457200" rtl="0" eaLnBrk="1" fontAlgn="auto" latinLnBrk="0" hangingPunct="1">
              <a:lnSpc>
                <a:spcPct val="100000"/>
              </a:lnSpc>
              <a:spcBef>
                <a:spcPts val="0"/>
              </a:spcBef>
              <a:spcAft>
                <a:spcPts val="0"/>
              </a:spcAft>
              <a:buClrTx/>
              <a:buSzTx/>
              <a:buFontTx/>
              <a:buNone/>
              <a:tabLst/>
              <a:defRPr sz="880">
                <a:solidFill>
                  <a:srgbClr val="94A3B8"/>
                </a:solidFill>
              </a:defRPr>
            </a:pPr>
            <a:r>
              <a:rPr kumimoji="0" sz="880" b="0" i="0" u="none" strike="noStrike" kern="1200" cap="none" spc="0" normalizeH="0" baseline="0" noProof="0">
                <a:ln>
                  <a:noFill/>
                </a:ln>
                <a:solidFill>
                  <a:srgbClr val="94A3B8"/>
                </a:solidFill>
                <a:effectLst/>
                <a:uLnTx/>
                <a:uFillTx/>
                <a:latin typeface="Calibri"/>
                <a:ea typeface="+mn-ea"/>
                <a:cs typeface="+mn-cs"/>
              </a:rPr>
              <a:t>• Solar Dock Deployment (₹8.5 Cr):</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Deploy 150 smart charging docks sited at submodular algorithm coordinates.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Shared E-Bike Fleets: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Concession tenders for 3,000 shared e-bikes via PPP models (Yulu, Bounce, Tummoc).</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Dynamic Fleet Balancing:</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Van redistribution based on morning vs. evening commute tidal flows.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Yield: Captures +63.2k corridor and +898k city residents.</a:t>
            </a:r>
          </a:p>
        </p:txBody>
      </p:sp>
      <p:sp>
        <p:nvSpPr>
          <p:cNvPr id="7" name="Rounded Rectangle 6"/>
          <p:cNvSpPr/>
          <p:nvPr/>
        </p:nvSpPr>
        <p:spPr>
          <a:xfrm>
            <a:off x="8028432" y="1554480"/>
            <a:ext cx="3429000" cy="338328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8165592" y="1691640"/>
            <a:ext cx="3154680" cy="31089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1000" b="1">
                <a:solidFill>
                  <a:srgbClr val="D97706"/>
                </a:solidFill>
              </a:defRPr>
            </a:pPr>
            <a:r>
              <a:rPr kumimoji="0" sz="1000" b="1" i="0" u="none" strike="noStrike" kern="1200" cap="none" spc="0" normalizeH="0" baseline="0" noProof="0">
                <a:ln>
                  <a:noFill/>
                </a:ln>
                <a:solidFill>
                  <a:srgbClr val="D97706"/>
                </a:solidFill>
                <a:effectLst/>
                <a:uLnTx/>
                <a:uFillTx/>
                <a:latin typeface="Calibri"/>
                <a:ea typeface="+mn-ea"/>
                <a:cs typeface="+mn-cs"/>
              </a:rPr>
              <a:t>PHASE 3: MONTHS 10–18</a:t>
            </a:r>
          </a:p>
          <a:p>
            <a:pPr marL="0" marR="0" lvl="0" indent="0" algn="l" defTabSz="457200" rtl="0" eaLnBrk="1" fontAlgn="auto" latinLnBrk="0" hangingPunct="1">
              <a:lnSpc>
                <a:spcPct val="100000"/>
              </a:lnSpc>
              <a:spcBef>
                <a:spcPts val="0"/>
              </a:spcBef>
              <a:spcAft>
                <a:spcPts val="400"/>
              </a:spcAft>
              <a:buClrTx/>
              <a:buSzTx/>
              <a:buFontTx/>
              <a:buNone/>
              <a:tabLst/>
              <a:defRPr sz="1300" b="1">
                <a:solidFill>
                  <a:srgbClr val="FFFFFF"/>
                </a:solidFill>
              </a:defRPr>
            </a:pPr>
            <a:r>
              <a:rPr kumimoji="0" sz="1300" b="1" i="0" u="none" strike="noStrike" kern="1200" cap="none" spc="0" normalizeH="0" baseline="0" noProof="0">
                <a:ln>
                  <a:noFill/>
                </a:ln>
                <a:solidFill>
                  <a:srgbClr val="FFFFFF"/>
                </a:solidFill>
                <a:effectLst/>
                <a:uLnTx/>
                <a:uFillTx/>
                <a:latin typeface="Calibri"/>
                <a:ea typeface="+mn-ea"/>
                <a:cs typeface="+mn-cs"/>
              </a:rPr>
              <a:t>Multi-Modal Integration</a:t>
            </a:r>
          </a:p>
          <a:p>
            <a:pPr marL="0" marR="0" lvl="0" indent="0" algn="l" defTabSz="457200" rtl="0" eaLnBrk="1" fontAlgn="auto" latinLnBrk="0" hangingPunct="1">
              <a:lnSpc>
                <a:spcPct val="100000"/>
              </a:lnSpc>
              <a:spcBef>
                <a:spcPts val="0"/>
              </a:spcBef>
              <a:spcAft>
                <a:spcPts val="0"/>
              </a:spcAft>
              <a:buClrTx/>
              <a:buSzTx/>
              <a:buFontTx/>
              <a:buNone/>
              <a:tabLst/>
              <a:defRPr sz="880">
                <a:solidFill>
                  <a:srgbClr val="94A3B8"/>
                </a:solidFill>
              </a:defRPr>
            </a:pPr>
            <a:r>
              <a:rPr kumimoji="0" sz="880" b="0" i="0" u="none" strike="noStrike" kern="1200" cap="none" spc="0" normalizeH="0" baseline="0" noProof="0">
                <a:ln>
                  <a:noFill/>
                </a:ln>
                <a:solidFill>
                  <a:srgbClr val="94A3B8"/>
                </a:solidFill>
                <a:effectLst/>
                <a:uLnTx/>
                <a:uFillTx/>
                <a:latin typeface="Calibri"/>
                <a:ea typeface="+mn-ea"/>
                <a:cs typeface="+mn-cs"/>
              </a:rPr>
              <a:t>• Unified QR / Smart Card (₹15.0 Cr):</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Integrated ticketing with Namma Metro QR &amp; Namma Yatri app.</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Free 15-minute feeder transfer bundled with metro ticket.</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Dedicated Infrastructure:</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 Pop-up protected cycle tracks along high-volume feeder radials.</a:t>
            </a:r>
            <a:br>
              <a:rPr kumimoji="0" sz="880" b="0" i="0" u="none" strike="noStrike" kern="1200" cap="none" spc="0" normalizeH="0" baseline="0" noProof="0">
                <a:ln>
                  <a:noFill/>
                </a:ln>
                <a:solidFill>
                  <a:srgbClr val="94A3B8"/>
                </a:solidFill>
                <a:effectLst/>
                <a:uLnTx/>
                <a:uFillTx/>
                <a:latin typeface="Calibri"/>
                <a:ea typeface="+mn-ea"/>
                <a:cs typeface="+mn-cs"/>
              </a:rPr>
            </a:br>
            <a:r>
              <a:rPr kumimoji="0" sz="880" b="0" i="0" u="none" strike="noStrike" kern="1200" cap="none" spc="0" normalizeH="0" baseline="0" noProof="0">
                <a:ln>
                  <a:noFill/>
                </a:ln>
                <a:solidFill>
                  <a:srgbClr val="94A3B8"/>
                </a:solidFill>
                <a:effectLst/>
                <a:uLnTx/>
                <a:uFillTx/>
                <a:latin typeface="Calibri"/>
                <a:ea typeface="+mn-ea"/>
                <a:cs typeface="+mn-cs"/>
              </a:rPr>
              <a:t>• Ultimate Impact: Permanent 12–15% modal shift away from private two-wheelers.</a:t>
            </a:r>
          </a:p>
        </p:txBody>
      </p:sp>
      <p:sp>
        <p:nvSpPr>
          <p:cNvPr id="9" name="Rounded Rectangle 8"/>
          <p:cNvSpPr/>
          <p:nvPr/>
        </p:nvSpPr>
        <p:spPr>
          <a:xfrm>
            <a:off x="731520" y="5120640"/>
            <a:ext cx="10728655" cy="1051560"/>
          </a:xfrm>
          <a:prstGeom prst="roundRect">
            <a:avLst/>
          </a:prstGeom>
          <a:solidFill>
            <a:srgbClr val="121A2F"/>
          </a:solidFill>
          <a:ln w="12700">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914400" y="5212080"/>
            <a:ext cx="10362895" cy="8686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sz="1100" b="1">
                <a:solidFill>
                  <a:srgbClr val="0284C7"/>
                </a:solidFill>
                <a:latin typeface="Calibri"/>
              </a:defRPr>
            </a:pPr>
            <a:r>
              <a:rPr kumimoji="0" sz="1100" b="1" i="0" u="none" strike="noStrike" kern="1200" cap="none" spc="0" normalizeH="0" baseline="0" noProof="0">
                <a:ln>
                  <a:noFill/>
                </a:ln>
                <a:solidFill>
                  <a:srgbClr val="0284C7"/>
                </a:solidFill>
                <a:effectLst/>
                <a:uLnTx/>
                <a:uFillTx/>
                <a:latin typeface="Calibri"/>
                <a:ea typeface="+mn-ea"/>
                <a:cs typeface="+mn-cs"/>
              </a:rPr>
              <a:t>🌟 FINAL SYNTHESIS &amp; JURY DEFENSE STATEMENT</a:t>
            </a:r>
          </a:p>
          <a:p>
            <a:pPr marL="0" marR="0" lvl="0" indent="0" algn="l" defTabSz="457200" rtl="0" eaLnBrk="1" fontAlgn="auto" latinLnBrk="0" hangingPunct="1">
              <a:lnSpc>
                <a:spcPct val="100000"/>
              </a:lnSpc>
              <a:spcBef>
                <a:spcPts val="0"/>
              </a:spcBef>
              <a:spcAft>
                <a:spcPts val="0"/>
              </a:spcAft>
              <a:buClrTx/>
              <a:buSzTx/>
              <a:buFontTx/>
              <a:buNone/>
              <a:tabLst/>
              <a:defRPr sz="1000">
                <a:solidFill>
                  <a:srgbClr val="FFFFFF"/>
                </a:solidFill>
                <a:latin typeface="Calibri"/>
              </a:defRPr>
            </a:pPr>
            <a:r>
              <a:rPr kumimoji="0" sz="1000" b="0" i="0" u="none" strike="noStrike" kern="1200" cap="none" spc="0" normalizeH="0" baseline="0" noProof="0">
                <a:ln>
                  <a:noFill/>
                </a:ln>
                <a:solidFill>
                  <a:srgbClr val="FFFFFF"/>
                </a:solidFill>
                <a:effectLst/>
                <a:uLnTx/>
                <a:uFillTx/>
                <a:latin typeface="Calibri"/>
                <a:ea typeface="+mn-ea"/>
                <a:cs typeface="+mn-cs"/>
              </a:rPr>
              <a:t>“Team UrbanFluX bridges Bengaluru's 3.33-million resident first-mile chasm with mathematical rigor, capital efficiency, and real-world engineering honesty. By proving provable submodular hub siting, resolving equity paradoxes, and scaling to all 83 stations, we provide a publication-ready blueprint for sustainable urban transit.”</a:t>
            </a:r>
          </a:p>
        </p:txBody>
      </p:sp>
      <p:sp>
        <p:nvSpPr>
          <p:cNvPr id="11" name="Rectangle 10"/>
          <p:cNvSpPr/>
          <p:nvPr/>
        </p:nvSpPr>
        <p:spPr>
          <a:xfrm>
            <a:off x="731520" y="6400800"/>
            <a:ext cx="10728655" cy="13716"/>
          </a:xfrm>
          <a:prstGeom prst="rect">
            <a:avLst/>
          </a:prstGeom>
          <a:solidFill>
            <a:srgbClr val="1E2945"/>
          </a:solidFill>
          <a:ln>
            <a:solidFill>
              <a:srgbClr val="1E294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850">
                <a:solidFill>
                  <a:srgbClr val="94A3B8"/>
                </a:solidFill>
                <a:latin typeface="Calibri"/>
              </a:defRPr>
            </a:pPr>
            <a:r>
              <a:rPr kumimoji="0" sz="850" b="0" i="0" u="none" strike="noStrike" kern="1200" cap="none" spc="0" normalizeH="0" baseline="0" noProof="0">
                <a:ln>
                  <a:noFill/>
                </a:ln>
                <a:solidFill>
                  <a:srgbClr val="94A3B8"/>
                </a:solidFill>
                <a:effectLst/>
                <a:uLnTx/>
                <a:uFillTx/>
                <a:latin typeface="Calibri"/>
                <a:ea typeface="+mn-ea"/>
                <a:cs typeface="+mn-cs"/>
              </a:rPr>
              <a:t>SHIFT 2026 Sustainable e-Micromobility Hackathon | IIT (BHU) Varanasi   |   Team UrbanFluX   |   Live Platform: https://bengaluru-metro-feeder.streamlit.app   |   Slide 10 of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st Mile First — SHIFT 2026 Deck">
  <a:themeElements>
    <a:clrScheme name="Last Mile First — SHIFT 2026 Deck">
      <a:dk1>
        <a:srgbClr val="12213A"/>
      </a:dk1>
      <a:lt1>
        <a:srgbClr val="F5F3EC"/>
      </a:lt1>
      <a:dk2>
        <a:srgbClr val="4B5667"/>
      </a:dk2>
      <a:lt2>
        <a:srgbClr val="DEDEDA"/>
      </a:lt2>
      <a:accent1>
        <a:srgbClr val="0A7C5A"/>
      </a:accent1>
      <a:accent2>
        <a:srgbClr val="4FD1A1"/>
      </a:accent2>
      <a:accent3>
        <a:srgbClr val="F6DCC3"/>
      </a:accent3>
      <a:accent4>
        <a:srgbClr val="A8520A"/>
      </a:accent4>
      <a:accent5>
        <a:srgbClr val="F2A65A"/>
      </a:accent5>
      <a:accent6>
        <a:srgbClr val="1E4FD8"/>
      </a:accent6>
      <a:hlink>
        <a:srgbClr val="0563C1"/>
      </a:hlink>
      <a:folHlink>
        <a:srgbClr val="954F72"/>
      </a:folHlink>
    </a:clrScheme>
    <a:fontScheme name="Last Mile First — SHIFT 2026 Deck">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2443</Words>
  <Application>Microsoft Office PowerPoint</Application>
  <PresentationFormat>Widescreen</PresentationFormat>
  <Paragraphs>145</Paragraphs>
  <Slides>10</Slides>
  <Notes>8</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10</vt:i4>
      </vt:variant>
    </vt:vector>
  </HeadingPairs>
  <TitlesOfParts>
    <vt:vector size="17" baseType="lpstr">
      <vt:lpstr>Arial</vt:lpstr>
      <vt:lpstr>Calibri</vt:lpstr>
      <vt:lpstr>Calibri Light</vt:lpstr>
      <vt:lpstr>Georgia</vt:lpstr>
      <vt:lpstr>Office Theme</vt:lpstr>
      <vt:lpstr>Last Mile First — SHIFT 2026 Deck</vt:lpstr>
      <vt:lpstr>1_Office Theme</vt:lpstr>
      <vt:lpstr>PowerPoint Presentation</vt:lpstr>
      <vt:lpstr>Why e-micromobility stalled for Indian commuters</vt:lpstr>
      <vt:lpstr>Everything we use is open</vt:lpstr>
      <vt:lpstr>The Whitefield end of the Purple Line</vt:lpstr>
      <vt:lpstr>Doorstep e-bikes double the 15-minute catchment</vt:lpstr>
      <vt:lpstr>PowerPoint Presentation</vt:lpstr>
      <vt:lpstr>Hubs reach far fewer people than doorstep bikes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NIRUPAM KUMAR</dc:creator>
  <cp:lastModifiedBy>NIRUPAM KUMAR</cp:lastModifiedBy>
  <cp:revision>1</cp:revision>
  <dcterms:created xsi:type="dcterms:W3CDTF">2026-10-11T10:03:01Z</dcterms:created>
  <dcterms:modified xsi:type="dcterms:W3CDTF">2026-10-11T10:03:31Z</dcterms:modified>
</cp:coreProperties>
</file>